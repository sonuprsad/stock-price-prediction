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3" r:id="rId2"/>
    <p:sldId id="307" r:id="rId3"/>
    <p:sldId id="308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09" r:id="rId13"/>
  </p:sldIdLst>
  <p:sldSz cx="18288000" cy="10287000"/>
  <p:notesSz cx="6858000" cy="9144000"/>
  <p:embeddedFontLst>
    <p:embeddedFont>
      <p:font typeface="Aharoni" panose="02010803020104030203" pitchFamily="2" charset="-79"/>
      <p:bold r:id="rId14"/>
    </p:embeddedFont>
    <p:embeddedFont>
      <p:font typeface="Alatsi" panose="020B0604020202020204" charset="0"/>
      <p:regular r:id="rId15"/>
    </p:embeddedFont>
    <p:embeddedFont>
      <p:font typeface="Barlow Bold" panose="020B0604020202020204" charset="0"/>
      <p:bold r:id="rId16"/>
    </p:embeddedFont>
    <p:embeddedFont>
      <p:font typeface="Barlow Light" panose="00000400000000000000" pitchFamily="2" charset="0"/>
      <p:regular r:id="rId17"/>
      <p:italic r:id="rId18"/>
    </p:embeddedFont>
    <p:embeddedFont>
      <p:font typeface="Montserrat" panose="00000500000000000000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2.sv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image" Target="../media/image1.png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3.jp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sv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3.jp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2.sv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svg"/><Relationship Id="rId4" Type="http://schemas.openxmlformats.org/officeDocument/2006/relationships/image" Target="../media/image3.jp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10948219" y="785357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" name="Freeform 16"/>
          <p:cNvSpPr/>
          <p:nvPr/>
        </p:nvSpPr>
        <p:spPr>
          <a:xfrm>
            <a:off x="10731822" y="2594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2DE839-EB17-D5AC-8111-E971961BD7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7DC0CE-5A23-0AA2-58CD-7B01D5051FFF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E9920565-AE13-B781-1BB9-009FDC806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977" y="1784217"/>
            <a:ext cx="13708442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GB" sz="6000" dirty="0"/>
              <a:t>Stock Price Prediction. Using deep learning</a:t>
            </a:r>
            <a:endParaRPr lang="en-MY" altLang="en-US" sz="6000" b="1" dirty="0"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F34F07-3970-3695-4E8D-7A3C7F37D001}"/>
              </a:ext>
            </a:extLst>
          </p:cNvPr>
          <p:cNvSpPr txBox="1"/>
          <p:nvPr/>
        </p:nvSpPr>
        <p:spPr>
          <a:xfrm>
            <a:off x="4208013" y="3461084"/>
            <a:ext cx="13851387" cy="646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4000" b="1" dirty="0">
                <a:cs typeface="Aharoni" pitchFamily="2" charset="-79"/>
              </a:rPr>
              <a:t>Student</a:t>
            </a:r>
            <a:r>
              <a:rPr lang="en-US" sz="40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Name :</a:t>
            </a:r>
            <a:r>
              <a:rPr lang="en-US" sz="4000" dirty="0">
                <a:solidFill>
                  <a:schemeClr val="tx1"/>
                </a:solidFill>
                <a:latin typeface="+mn-lt"/>
                <a:cs typeface="Aharoni" pitchFamily="2" charset="-79"/>
              </a:rPr>
              <a:t>Sonu Kumar</a:t>
            </a:r>
          </a:p>
          <a:p>
            <a:pPr>
              <a:lnSpc>
                <a:spcPct val="150000"/>
              </a:lnSpc>
              <a:defRPr/>
            </a:pPr>
            <a:r>
              <a:rPr lang="en-US" sz="4000" b="1" dirty="0">
                <a:cs typeface="Aharoni" pitchFamily="2" charset="-79"/>
              </a:rPr>
              <a:t>Project Group:</a:t>
            </a:r>
            <a:r>
              <a:rPr lang="en-US" sz="40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</a:t>
            </a:r>
            <a:r>
              <a:rPr lang="en-US" sz="4000" dirty="0">
                <a:solidFill>
                  <a:schemeClr val="tx1"/>
                </a:solidFill>
                <a:latin typeface="+mn-lt"/>
                <a:cs typeface="Aharoni" pitchFamily="2" charset="-79"/>
              </a:rPr>
              <a:t>199</a:t>
            </a:r>
          </a:p>
          <a:p>
            <a:pPr>
              <a:lnSpc>
                <a:spcPct val="150000"/>
              </a:lnSpc>
              <a:defRPr/>
            </a:pPr>
            <a:r>
              <a:rPr lang="en-US" sz="4000" b="1" dirty="0">
                <a:cs typeface="Aharoni" pitchFamily="2" charset="-79"/>
              </a:rPr>
              <a:t>Roll Number</a:t>
            </a:r>
            <a:r>
              <a:rPr lang="en-US" sz="40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: </a:t>
            </a:r>
            <a:r>
              <a:rPr lang="en-US" sz="4000" dirty="0">
                <a:solidFill>
                  <a:schemeClr val="tx1"/>
                </a:solidFill>
                <a:latin typeface="+mn-lt"/>
                <a:cs typeface="Aharoni" pitchFamily="2" charset="-79"/>
              </a:rPr>
              <a:t>2301331539013</a:t>
            </a:r>
          </a:p>
          <a:p>
            <a:pPr>
              <a:lnSpc>
                <a:spcPct val="150000"/>
              </a:lnSpc>
              <a:defRPr/>
            </a:pPr>
            <a:r>
              <a:rPr lang="en-US" sz="40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Programme : </a:t>
            </a:r>
            <a:r>
              <a:rPr lang="en-GB" sz="4000" dirty="0"/>
              <a:t>B.Tech (Computer Science &amp; Engineering - AI &amp; ML)</a:t>
            </a:r>
            <a:endParaRPr lang="en-US" sz="4000" b="1" dirty="0">
              <a:solidFill>
                <a:schemeClr val="tx1"/>
              </a:solidFill>
              <a:latin typeface="+mn-lt"/>
              <a:cs typeface="Aharoni" pitchFamily="2" charset="-79"/>
            </a:endParaRPr>
          </a:p>
          <a:p>
            <a:pPr>
              <a:lnSpc>
                <a:spcPct val="150000"/>
              </a:lnSpc>
              <a:defRPr/>
            </a:pPr>
            <a:r>
              <a:rPr lang="en-US" sz="40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School Name : </a:t>
            </a:r>
            <a:r>
              <a:rPr lang="en-GB" sz="4000" dirty="0"/>
              <a:t>School of </a:t>
            </a:r>
            <a:r>
              <a:rPr lang="en-US" sz="4000" dirty="0"/>
              <a:t>Emerging Technologies</a:t>
            </a:r>
            <a:endParaRPr lang="en-US" sz="4000" b="1" dirty="0">
              <a:solidFill>
                <a:schemeClr val="tx1"/>
              </a:solidFill>
              <a:latin typeface="+mn-lt"/>
              <a:cs typeface="Aharoni" pitchFamily="2" charset="-79"/>
            </a:endParaRPr>
          </a:p>
          <a:p>
            <a:pPr>
              <a:lnSpc>
                <a:spcPct val="150000"/>
              </a:lnSpc>
              <a:defRPr/>
            </a:pPr>
            <a:r>
              <a:rPr lang="en-US" sz="40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Study Mode : </a:t>
            </a:r>
            <a:r>
              <a:rPr lang="en-US" sz="4000" dirty="0"/>
              <a:t>Regular</a:t>
            </a:r>
            <a:endParaRPr lang="en-US" sz="4000" b="1" dirty="0">
              <a:solidFill>
                <a:schemeClr val="tx1"/>
              </a:solidFill>
              <a:latin typeface="+mn-lt"/>
              <a:cs typeface="Aharoni" pitchFamily="2" charset="-79"/>
            </a:endParaRPr>
          </a:p>
          <a:p>
            <a:pPr>
              <a:lnSpc>
                <a:spcPct val="150000"/>
              </a:lnSpc>
              <a:defRPr/>
            </a:pPr>
            <a:r>
              <a:rPr lang="en-US" sz="40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Supervisor : </a:t>
            </a:r>
            <a:r>
              <a:rPr lang="en-US" sz="4000" dirty="0">
                <a:solidFill>
                  <a:schemeClr val="tx1"/>
                </a:solidFill>
                <a:latin typeface="+mn-lt"/>
                <a:cs typeface="Aharoni" pitchFamily="2" charset="-79"/>
              </a:rPr>
              <a:t>MS.Mohini Chakarverti,Assistant Professor</a:t>
            </a:r>
            <a:endParaRPr lang="en-US" sz="1800" dirty="0">
              <a:solidFill>
                <a:schemeClr val="tx1"/>
              </a:solidFill>
              <a:latin typeface="+mn-lt"/>
              <a:cs typeface="Aharoni" pitchFamily="2" charset="-79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00A63-6A91-C591-0660-AAF983F32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0721990" y="761968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0736738" y="-2158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1999" y="2456194"/>
            <a:ext cx="13344640" cy="51587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Introduction</a:t>
            </a:r>
          </a:p>
          <a:p>
            <a:r>
              <a:rPr lang="en-US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Challenges in Stock Market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Objectives</a:t>
            </a:r>
          </a:p>
          <a:p>
            <a:r>
              <a:rPr lang="en-US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Technologies Used</a:t>
            </a:r>
          </a:p>
          <a:p>
            <a:r>
              <a:rPr lang="en-US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Architecture</a:t>
            </a:r>
          </a:p>
          <a:p>
            <a:r>
              <a:rPr lang="en-US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Processing Pipeline</a:t>
            </a:r>
            <a:endParaRPr lang="en-US" dirty="0"/>
          </a:p>
          <a:p>
            <a:r>
              <a:rPr lang="en-US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Technical Indicators Used</a:t>
            </a:r>
            <a:endParaRPr lang="en-US" dirty="0"/>
          </a:p>
          <a:p>
            <a:r>
              <a:rPr lang="en-US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Deep Learning Model: LSTM</a:t>
            </a:r>
            <a:endParaRPr lang="en-US" dirty="0"/>
          </a:p>
          <a:p>
            <a:r>
              <a:rPr lang="en-US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Decision Logic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218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8EC513-F10F-1BAC-734A-CFF7C6DCD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E0705EF-D588-6AC8-3BCB-0C757D7BD8E4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A8BA893-F7D4-DF46-1134-EDE8506A8849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B9FEA102-3963-E82D-CCDD-81C9710F244A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C3E2C919-C186-08D5-ECA6-ECCB17DD5A92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EB835F38-BDAB-C8C5-6391-7D4A4DDD257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6541C24-2C17-3232-FD23-B1794D077F2D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A8F63B5-B414-28EC-80D3-7531E2A29197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58277E5E-99F0-9131-941D-D48754BF24E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F728AAF-719C-6B81-5735-1BA760C69F89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5674625-9933-B90B-8DBE-32D589974E8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3C23612-2299-7AD9-A03C-77781FCDF0A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96EF018D-6CEC-100A-FF2E-28DCD2E09CDA}"/>
              </a:ext>
            </a:extLst>
          </p:cNvPr>
          <p:cNvSpPr/>
          <p:nvPr/>
        </p:nvSpPr>
        <p:spPr>
          <a:xfrm>
            <a:off x="10736738" y="7628955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8EF2BC81-E32E-3065-A13F-D985588C7C13}"/>
              </a:ext>
            </a:extLst>
          </p:cNvPr>
          <p:cNvSpPr/>
          <p:nvPr/>
        </p:nvSpPr>
        <p:spPr>
          <a:xfrm>
            <a:off x="10736738" y="7895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945EB32-A54F-6244-1A5B-26FC455352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607FF2-DF12-8EF9-8A51-4B3446304398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30CCCD6-8F76-86C7-0A16-574CD9E0AD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8846" y="1419153"/>
            <a:ext cx="5760720" cy="8229600"/>
          </a:xfrm>
          <a:prstGeom prst="rect">
            <a:avLst/>
          </a:prstGeom>
        </p:spPr>
      </p:pic>
      <p:sp>
        <p:nvSpPr>
          <p:cNvPr id="21" name="Text 0">
            <a:extLst>
              <a:ext uri="{FF2B5EF4-FFF2-40B4-BE49-F238E27FC236}">
                <a16:creationId xmlns:a16="http://schemas.microsoft.com/office/drawing/2014/main" id="{8B41CBBA-A68E-0753-840C-405CE55C1A04}"/>
              </a:ext>
            </a:extLst>
          </p:cNvPr>
          <p:cNvSpPr/>
          <p:nvPr/>
        </p:nvSpPr>
        <p:spPr>
          <a:xfrm>
            <a:off x="4329598" y="4430791"/>
            <a:ext cx="7627382" cy="1494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Stock Price Prediction Using Deep Learning</a:t>
            </a:r>
            <a:endParaRPr lang="en-US" sz="445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9A5D4E21-DE27-C430-F541-19CE110430BC}"/>
              </a:ext>
            </a:extLst>
          </p:cNvPr>
          <p:cNvSpPr/>
          <p:nvPr/>
        </p:nvSpPr>
        <p:spPr>
          <a:xfrm>
            <a:off x="4307475" y="6235707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AI-Based Stock Analysis &amp; Recommendation System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58359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823962E2-3F67-CDF0-87C8-7A71AC0FAA9D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A8A0726F-4784-E84E-C8E6-695A0EE5FC88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ADE4AFCE-2FC1-C1F7-DEC1-667985D7249C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40759691-C862-E59F-ED21-DEE900DDB50A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D934E824-9887-DEAF-CE98-8FE52E5A9E2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0A97578E-3754-4392-4862-832294F1D84A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9" name="Freeform 10">
                <a:extLst>
                  <a:ext uri="{FF2B5EF4-FFF2-40B4-BE49-F238E27FC236}">
                    <a16:creationId xmlns:a16="http://schemas.microsoft.com/office/drawing/2014/main" id="{EDA469A2-AFA2-F80C-229C-E6F7B536F861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1">
                <a:extLst>
                  <a:ext uri="{FF2B5EF4-FFF2-40B4-BE49-F238E27FC236}">
                    <a16:creationId xmlns:a16="http://schemas.microsoft.com/office/drawing/2014/main" id="{27A2C3A3-CD14-E8F6-4728-165737058EA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12">
              <a:extLst>
                <a:ext uri="{FF2B5EF4-FFF2-40B4-BE49-F238E27FC236}">
                  <a16:creationId xmlns:a16="http://schemas.microsoft.com/office/drawing/2014/main" id="{1D719FC7-4354-E9B1-C9B6-E26103024A13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7" name="Freeform 13">
                <a:extLst>
                  <a:ext uri="{FF2B5EF4-FFF2-40B4-BE49-F238E27FC236}">
                    <a16:creationId xmlns:a16="http://schemas.microsoft.com/office/drawing/2014/main" id="{6822B1B6-76BF-738F-EA56-C9B79D4D157D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14">
                <a:extLst>
                  <a:ext uri="{FF2B5EF4-FFF2-40B4-BE49-F238E27FC236}">
                    <a16:creationId xmlns:a16="http://schemas.microsoft.com/office/drawing/2014/main" id="{422ACBB5-F57D-9D39-3438-826021EDAFF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Freeform 15">
            <a:extLst>
              <a:ext uri="{FF2B5EF4-FFF2-40B4-BE49-F238E27FC236}">
                <a16:creationId xmlns:a16="http://schemas.microsoft.com/office/drawing/2014/main" id="{952986EF-0DD0-89CC-7496-D689DB733DDC}"/>
              </a:ext>
            </a:extLst>
          </p:cNvPr>
          <p:cNvSpPr/>
          <p:nvPr/>
        </p:nvSpPr>
        <p:spPr>
          <a:xfrm>
            <a:off x="10736738" y="7628955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2163F101-8B4A-8BB8-CECD-76110E1FA07D}"/>
              </a:ext>
            </a:extLst>
          </p:cNvPr>
          <p:cNvSpPr/>
          <p:nvPr/>
        </p:nvSpPr>
        <p:spPr>
          <a:xfrm>
            <a:off x="10736738" y="7895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9B6A71-3445-3160-A284-4360483BFC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32A4010-3A11-1900-DB70-9AE5FAE3E1B5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51F1A8B4-D8EC-FACC-BE6E-AAC6E7B5F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0418" y="2089531"/>
            <a:ext cx="9121395" cy="7695023"/>
          </a:xfrm>
          <a:prstGeom prst="rect">
            <a:avLst/>
          </a:prstGeom>
        </p:spPr>
      </p:pic>
      <p:sp>
        <p:nvSpPr>
          <p:cNvPr id="22" name="Text 1">
            <a:extLst>
              <a:ext uri="{FF2B5EF4-FFF2-40B4-BE49-F238E27FC236}">
                <a16:creationId xmlns:a16="http://schemas.microsoft.com/office/drawing/2014/main" id="{78FE82E3-A609-9070-588E-4519850CD85E}"/>
              </a:ext>
            </a:extLst>
          </p:cNvPr>
          <p:cNvSpPr/>
          <p:nvPr/>
        </p:nvSpPr>
        <p:spPr>
          <a:xfrm>
            <a:off x="13575803" y="2647562"/>
            <a:ext cx="338768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Challenges in Stock Market</a:t>
            </a:r>
            <a:endParaRPr lang="en-US" sz="220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08C2076C-76F1-A846-5C88-95C23582AF8B}"/>
              </a:ext>
            </a:extLst>
          </p:cNvPr>
          <p:cNvSpPr/>
          <p:nvPr/>
        </p:nvSpPr>
        <p:spPr>
          <a:xfrm>
            <a:off x="13487400" y="3086100"/>
            <a:ext cx="4246126" cy="1884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 market prediction is complex and uncertain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analysis is time-consuming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Beginners struggle with decision making</a:t>
            </a:r>
            <a:endParaRPr lang="en-US" sz="17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6BD1FAA5-22BF-F276-F67F-ACB2AF0925D4}"/>
              </a:ext>
            </a:extLst>
          </p:cNvPr>
          <p:cNvSpPr/>
          <p:nvPr/>
        </p:nvSpPr>
        <p:spPr>
          <a:xfrm>
            <a:off x="13575803" y="512202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D5CEF1A1-235E-F862-2F8A-5C377BCC61C3}"/>
              </a:ext>
            </a:extLst>
          </p:cNvPr>
          <p:cNvSpPr/>
          <p:nvPr/>
        </p:nvSpPr>
        <p:spPr>
          <a:xfrm>
            <a:off x="13650848" y="5508982"/>
            <a:ext cx="424612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AI-based stock prediction system with interactive dashboard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96518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CB99F09F-5D7B-79E8-54C8-87D443504BCF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1E104A17-D0CC-199B-F674-90EE1426A42F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FA5985BB-BA44-F967-1746-F27CD8AA0F64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F5ABCBE6-F8C3-4BC7-3EAA-2C7C678114D7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4EFC9F73-9B2B-FF51-B18F-650A9ED1915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95C3A49D-F522-2FD4-4B4E-B1C0B5057082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9" name="Freeform 10">
                <a:extLst>
                  <a:ext uri="{FF2B5EF4-FFF2-40B4-BE49-F238E27FC236}">
                    <a16:creationId xmlns:a16="http://schemas.microsoft.com/office/drawing/2014/main" id="{464EFE78-3F29-C7A3-0049-3563604C188B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1">
                <a:extLst>
                  <a:ext uri="{FF2B5EF4-FFF2-40B4-BE49-F238E27FC236}">
                    <a16:creationId xmlns:a16="http://schemas.microsoft.com/office/drawing/2014/main" id="{46590C0C-F588-A5EC-320B-9D16A932ECA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12">
              <a:extLst>
                <a:ext uri="{FF2B5EF4-FFF2-40B4-BE49-F238E27FC236}">
                  <a16:creationId xmlns:a16="http://schemas.microsoft.com/office/drawing/2014/main" id="{D6EFB3B4-C462-1AB2-92CE-BCB9733D80F5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7" name="Freeform 13">
                <a:extLst>
                  <a:ext uri="{FF2B5EF4-FFF2-40B4-BE49-F238E27FC236}">
                    <a16:creationId xmlns:a16="http://schemas.microsoft.com/office/drawing/2014/main" id="{7F2F7203-9A52-1C02-6CF8-0E3DF99AAADD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14">
                <a:extLst>
                  <a:ext uri="{FF2B5EF4-FFF2-40B4-BE49-F238E27FC236}">
                    <a16:creationId xmlns:a16="http://schemas.microsoft.com/office/drawing/2014/main" id="{FE8081BD-C460-BD6C-06DC-110E158E36A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Freeform 15">
            <a:extLst>
              <a:ext uri="{FF2B5EF4-FFF2-40B4-BE49-F238E27FC236}">
                <a16:creationId xmlns:a16="http://schemas.microsoft.com/office/drawing/2014/main" id="{265E885E-0B30-2476-E427-8DD776D86C82}"/>
              </a:ext>
            </a:extLst>
          </p:cNvPr>
          <p:cNvSpPr/>
          <p:nvPr/>
        </p:nvSpPr>
        <p:spPr>
          <a:xfrm>
            <a:off x="10736738" y="7628955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1DE16D03-E1C9-3F78-76D6-6351782E5BED}"/>
              </a:ext>
            </a:extLst>
          </p:cNvPr>
          <p:cNvSpPr/>
          <p:nvPr/>
        </p:nvSpPr>
        <p:spPr>
          <a:xfrm>
            <a:off x="10736738" y="7895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0183F6-FCBB-5B41-50FE-D4969D3A05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9A680B-05E0-13DF-B0FA-C745CA25EC9B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 0">
            <a:extLst>
              <a:ext uri="{FF2B5EF4-FFF2-40B4-BE49-F238E27FC236}">
                <a16:creationId xmlns:a16="http://schemas.microsoft.com/office/drawing/2014/main" id="{79981BB0-601C-B417-A564-B8DB575DC7E2}"/>
              </a:ext>
            </a:extLst>
          </p:cNvPr>
          <p:cNvSpPr/>
          <p:nvPr/>
        </p:nvSpPr>
        <p:spPr>
          <a:xfrm>
            <a:off x="4947988" y="162735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294EC109-211A-9F4F-9527-0B7F446F0FC7}"/>
              </a:ext>
            </a:extLst>
          </p:cNvPr>
          <p:cNvSpPr/>
          <p:nvPr/>
        </p:nvSpPr>
        <p:spPr>
          <a:xfrm>
            <a:off x="4947988" y="2773330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7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0BDB6755-1397-C417-F0D6-DA2BFF5CC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988" y="3110872"/>
            <a:ext cx="4226838" cy="30480"/>
          </a:xfrm>
          <a:prstGeom prst="rect">
            <a:avLst/>
          </a:prstGeom>
        </p:spPr>
      </p:pic>
      <p:sp>
        <p:nvSpPr>
          <p:cNvPr id="25" name="Text 2">
            <a:extLst>
              <a:ext uri="{FF2B5EF4-FFF2-40B4-BE49-F238E27FC236}">
                <a16:creationId xmlns:a16="http://schemas.microsoft.com/office/drawing/2014/main" id="{CFEC474D-D042-E005-00EA-D12183A8EA66}"/>
              </a:ext>
            </a:extLst>
          </p:cNvPr>
          <p:cNvSpPr/>
          <p:nvPr/>
        </p:nvSpPr>
        <p:spPr>
          <a:xfrm>
            <a:off x="4947988" y="32800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Predict Future Prices</a:t>
            </a:r>
            <a:endParaRPr lang="en-US" sz="22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803694FB-9345-EA38-2DDB-2325475414F4}"/>
              </a:ext>
            </a:extLst>
          </p:cNvPr>
          <p:cNvSpPr/>
          <p:nvPr/>
        </p:nvSpPr>
        <p:spPr>
          <a:xfrm>
            <a:off x="4947988" y="3766192"/>
            <a:ext cx="42268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Deep Learning to forecast stock prices</a:t>
            </a:r>
            <a:endParaRPr lang="en-US" sz="17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0614770F-158C-27BA-5170-5BC988DE0056}"/>
              </a:ext>
            </a:extLst>
          </p:cNvPr>
          <p:cNvSpPr/>
          <p:nvPr/>
        </p:nvSpPr>
        <p:spPr>
          <a:xfrm>
            <a:off x="9391401" y="2773330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700" dirty="0"/>
          </a:p>
        </p:txBody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DBDBB3A1-5A08-1362-9BB0-A37764528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1401" y="3110872"/>
            <a:ext cx="4226838" cy="30480"/>
          </a:xfrm>
          <a:prstGeom prst="rect">
            <a:avLst/>
          </a:prstGeom>
        </p:spPr>
      </p:pic>
      <p:sp>
        <p:nvSpPr>
          <p:cNvPr id="29" name="Text 5">
            <a:extLst>
              <a:ext uri="{FF2B5EF4-FFF2-40B4-BE49-F238E27FC236}">
                <a16:creationId xmlns:a16="http://schemas.microsoft.com/office/drawing/2014/main" id="{3B90D98B-4AD2-87ED-02A7-5CF691B83EF0}"/>
              </a:ext>
            </a:extLst>
          </p:cNvPr>
          <p:cNvSpPr/>
          <p:nvPr/>
        </p:nvSpPr>
        <p:spPr>
          <a:xfrm>
            <a:off x="9391401" y="32800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Generate Signals</a:t>
            </a:r>
            <a:endParaRPr lang="en-US" sz="22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D1D168C5-C841-5279-236C-AF676A9CFE28}"/>
              </a:ext>
            </a:extLst>
          </p:cNvPr>
          <p:cNvSpPr/>
          <p:nvPr/>
        </p:nvSpPr>
        <p:spPr>
          <a:xfrm>
            <a:off x="9391401" y="3766192"/>
            <a:ext cx="42268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 BUY/SELL/HOLD recommendations</a:t>
            </a:r>
            <a:endParaRPr lang="en-US" sz="17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786AA546-EEBA-D76D-EF7A-41FB7D73F7A6}"/>
              </a:ext>
            </a:extLst>
          </p:cNvPr>
          <p:cNvSpPr/>
          <p:nvPr/>
        </p:nvSpPr>
        <p:spPr>
          <a:xfrm>
            <a:off x="13834813" y="2773330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700" dirty="0"/>
          </a:p>
        </p:txBody>
      </p:sp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1B57CD1C-CC08-65D7-33E1-7B696F5F6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4813" y="3110872"/>
            <a:ext cx="4226957" cy="30480"/>
          </a:xfrm>
          <a:prstGeom prst="rect">
            <a:avLst/>
          </a:prstGeom>
        </p:spPr>
      </p:pic>
      <p:sp>
        <p:nvSpPr>
          <p:cNvPr id="33" name="Text 8">
            <a:extLst>
              <a:ext uri="{FF2B5EF4-FFF2-40B4-BE49-F238E27FC236}">
                <a16:creationId xmlns:a16="http://schemas.microsoft.com/office/drawing/2014/main" id="{9C969BC8-B2F2-9EC7-F12B-A94F0674B6C5}"/>
              </a:ext>
            </a:extLst>
          </p:cNvPr>
          <p:cNvSpPr/>
          <p:nvPr/>
        </p:nvSpPr>
        <p:spPr>
          <a:xfrm>
            <a:off x="13834813" y="32800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Visualize Trends</a:t>
            </a:r>
            <a:endParaRPr lang="en-US" sz="22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B8852237-66A3-EF29-2A60-3ADB2D0A3F34}"/>
              </a:ext>
            </a:extLst>
          </p:cNvPr>
          <p:cNvSpPr/>
          <p:nvPr/>
        </p:nvSpPr>
        <p:spPr>
          <a:xfrm>
            <a:off x="13834813" y="3766192"/>
            <a:ext cx="422695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 stock trends and technical indicators</a:t>
            </a:r>
            <a:endParaRPr lang="en-US" sz="17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CFCBB9E4-6254-C9A6-AE73-566D0E049C53}"/>
              </a:ext>
            </a:extLst>
          </p:cNvPr>
          <p:cNvSpPr/>
          <p:nvPr/>
        </p:nvSpPr>
        <p:spPr>
          <a:xfrm>
            <a:off x="4947988" y="4838588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700" dirty="0"/>
          </a:p>
        </p:txBody>
      </p:sp>
      <p:pic>
        <p:nvPicPr>
          <p:cNvPr id="36" name="Image 3" descr="preencoded.png">
            <a:extLst>
              <a:ext uri="{FF2B5EF4-FFF2-40B4-BE49-F238E27FC236}">
                <a16:creationId xmlns:a16="http://schemas.microsoft.com/office/drawing/2014/main" id="{ABA1B4D0-D643-7293-0BFB-6D1CD43D46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7988" y="5154460"/>
            <a:ext cx="6448544" cy="30480"/>
          </a:xfrm>
          <a:prstGeom prst="rect">
            <a:avLst/>
          </a:prstGeom>
        </p:spPr>
      </p:pic>
      <p:sp>
        <p:nvSpPr>
          <p:cNvPr id="37" name="Text 11">
            <a:extLst>
              <a:ext uri="{FF2B5EF4-FFF2-40B4-BE49-F238E27FC236}">
                <a16:creationId xmlns:a16="http://schemas.microsoft.com/office/drawing/2014/main" id="{1FC94F32-4559-B2B9-01E5-5C6E3A0E3385}"/>
              </a:ext>
            </a:extLst>
          </p:cNvPr>
          <p:cNvSpPr/>
          <p:nvPr/>
        </p:nvSpPr>
        <p:spPr>
          <a:xfrm>
            <a:off x="4947988" y="53453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Build Dashboard</a:t>
            </a:r>
            <a:endParaRPr lang="en-US" sz="220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F24BF67B-D581-60AA-F470-597278B966A4}"/>
              </a:ext>
            </a:extLst>
          </p:cNvPr>
          <p:cNvSpPr/>
          <p:nvPr/>
        </p:nvSpPr>
        <p:spPr>
          <a:xfrm>
            <a:off x="4947988" y="5831450"/>
            <a:ext cx="64485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user-friendly interface</a:t>
            </a:r>
            <a:endParaRPr lang="en-US" sz="170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CF93015C-4502-9C0F-9D83-5884BBD7C7CE}"/>
              </a:ext>
            </a:extLst>
          </p:cNvPr>
          <p:cNvSpPr/>
          <p:nvPr/>
        </p:nvSpPr>
        <p:spPr>
          <a:xfrm>
            <a:off x="11613107" y="4838588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05</a:t>
            </a:r>
            <a:endParaRPr lang="en-US" sz="1700" dirty="0"/>
          </a:p>
        </p:txBody>
      </p:sp>
      <p:pic>
        <p:nvPicPr>
          <p:cNvPr id="40" name="Image 4" descr="preencoded.png">
            <a:extLst>
              <a:ext uri="{FF2B5EF4-FFF2-40B4-BE49-F238E27FC236}">
                <a16:creationId xmlns:a16="http://schemas.microsoft.com/office/drawing/2014/main" id="{51786545-584B-CE6F-4020-2C738D236B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3107" y="5154460"/>
            <a:ext cx="6448663" cy="30480"/>
          </a:xfrm>
          <a:prstGeom prst="rect">
            <a:avLst/>
          </a:prstGeom>
        </p:spPr>
      </p:pic>
      <p:sp>
        <p:nvSpPr>
          <p:cNvPr id="41" name="Text 14">
            <a:extLst>
              <a:ext uri="{FF2B5EF4-FFF2-40B4-BE49-F238E27FC236}">
                <a16:creationId xmlns:a16="http://schemas.microsoft.com/office/drawing/2014/main" id="{3EA8699B-A4AC-A824-9831-DAF9795E746E}"/>
              </a:ext>
            </a:extLst>
          </p:cNvPr>
          <p:cNvSpPr/>
          <p:nvPr/>
        </p:nvSpPr>
        <p:spPr>
          <a:xfrm>
            <a:off x="11613107" y="53453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Support</a:t>
            </a:r>
            <a:endParaRPr lang="en-US" sz="22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0915466A-26FE-C84B-38BB-8B538775E02F}"/>
              </a:ext>
            </a:extLst>
          </p:cNvPr>
          <p:cNvSpPr/>
          <p:nvPr/>
        </p:nvSpPr>
        <p:spPr>
          <a:xfrm>
            <a:off x="11613107" y="5831450"/>
            <a:ext cx="644866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 both CSV data and live data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202660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4">
            <a:extLst>
              <a:ext uri="{FF2B5EF4-FFF2-40B4-BE49-F238E27FC236}">
                <a16:creationId xmlns:a16="http://schemas.microsoft.com/office/drawing/2014/main" id="{458C5743-3EA0-FD55-F884-EDD8F18C17D4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39" name="Group 5">
            <a:extLst>
              <a:ext uri="{FF2B5EF4-FFF2-40B4-BE49-F238E27FC236}">
                <a16:creationId xmlns:a16="http://schemas.microsoft.com/office/drawing/2014/main" id="{E1132E89-4B98-3506-B061-22E3361B3905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40" name="Group 6">
              <a:extLst>
                <a:ext uri="{FF2B5EF4-FFF2-40B4-BE49-F238E27FC236}">
                  <a16:creationId xmlns:a16="http://schemas.microsoft.com/office/drawing/2014/main" id="{DE0FC093-2207-A4E8-7E91-DADE55CD1B55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47" name="Freeform 7">
                <a:extLst>
                  <a:ext uri="{FF2B5EF4-FFF2-40B4-BE49-F238E27FC236}">
                    <a16:creationId xmlns:a16="http://schemas.microsoft.com/office/drawing/2014/main" id="{4BB03A68-3473-C2F4-2CFE-AE24B5422DCD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8">
                <a:extLst>
                  <a:ext uri="{FF2B5EF4-FFF2-40B4-BE49-F238E27FC236}">
                    <a16:creationId xmlns:a16="http://schemas.microsoft.com/office/drawing/2014/main" id="{91AE540D-1F94-87A1-3F5C-9EDD591E96C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1" name="Group 9">
              <a:extLst>
                <a:ext uri="{FF2B5EF4-FFF2-40B4-BE49-F238E27FC236}">
                  <a16:creationId xmlns:a16="http://schemas.microsoft.com/office/drawing/2014/main" id="{8DA20164-3B80-C881-3D2F-9A43720F0A28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7AFA33B3-8AA8-95D9-C89C-DF2EA3F46C6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11">
                <a:extLst>
                  <a:ext uri="{FF2B5EF4-FFF2-40B4-BE49-F238E27FC236}">
                    <a16:creationId xmlns:a16="http://schemas.microsoft.com/office/drawing/2014/main" id="{B70C7285-4F08-6639-0EC0-9B360E5E423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2" name="Group 12">
              <a:extLst>
                <a:ext uri="{FF2B5EF4-FFF2-40B4-BE49-F238E27FC236}">
                  <a16:creationId xmlns:a16="http://schemas.microsoft.com/office/drawing/2014/main" id="{7D026AE9-9DC3-96A8-7B51-B3EA20CEB0B1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43" name="Freeform 13">
                <a:extLst>
                  <a:ext uri="{FF2B5EF4-FFF2-40B4-BE49-F238E27FC236}">
                    <a16:creationId xmlns:a16="http://schemas.microsoft.com/office/drawing/2014/main" id="{ED04785C-FBB7-789A-C9FF-D37FA7119CDD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14">
                <a:extLst>
                  <a:ext uri="{FF2B5EF4-FFF2-40B4-BE49-F238E27FC236}">
                    <a16:creationId xmlns:a16="http://schemas.microsoft.com/office/drawing/2014/main" id="{BDFFCD51-E913-99E2-C752-10FA05FB355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9" name="Freeform 15">
            <a:extLst>
              <a:ext uri="{FF2B5EF4-FFF2-40B4-BE49-F238E27FC236}">
                <a16:creationId xmlns:a16="http://schemas.microsoft.com/office/drawing/2014/main" id="{B970B917-A9F4-89F1-DEE6-0CA279219330}"/>
              </a:ext>
            </a:extLst>
          </p:cNvPr>
          <p:cNvSpPr/>
          <p:nvPr/>
        </p:nvSpPr>
        <p:spPr>
          <a:xfrm>
            <a:off x="10736738" y="7628955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0" name="Freeform 16">
            <a:extLst>
              <a:ext uri="{FF2B5EF4-FFF2-40B4-BE49-F238E27FC236}">
                <a16:creationId xmlns:a16="http://schemas.microsoft.com/office/drawing/2014/main" id="{D1280894-8271-919C-DBE7-012AC8ACC819}"/>
              </a:ext>
            </a:extLst>
          </p:cNvPr>
          <p:cNvSpPr/>
          <p:nvPr/>
        </p:nvSpPr>
        <p:spPr>
          <a:xfrm>
            <a:off x="10736738" y="7895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97DE63E-C26C-DAE3-D5A4-49F2353C8B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6B027D0-5F5B-9DBA-A488-1CFC52263A5E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5" name="Image 0" descr="preencoded.png">
            <a:extLst>
              <a:ext uri="{FF2B5EF4-FFF2-40B4-BE49-F238E27FC236}">
                <a16:creationId xmlns:a16="http://schemas.microsoft.com/office/drawing/2014/main" id="{A89DA982-47CE-7DEC-B442-BCC376F122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988" y="3110872"/>
            <a:ext cx="4226838" cy="30480"/>
          </a:xfrm>
          <a:prstGeom prst="rect">
            <a:avLst/>
          </a:prstGeom>
        </p:spPr>
      </p:pic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23676677-54A4-6AFD-28FE-3139725A8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1401" y="3110872"/>
            <a:ext cx="4226838" cy="30480"/>
          </a:xfrm>
          <a:prstGeom prst="rect">
            <a:avLst/>
          </a:prstGeom>
        </p:spPr>
      </p:pic>
      <p:pic>
        <p:nvPicPr>
          <p:cNvPr id="63" name="Image 2" descr="preencoded.png">
            <a:extLst>
              <a:ext uri="{FF2B5EF4-FFF2-40B4-BE49-F238E27FC236}">
                <a16:creationId xmlns:a16="http://schemas.microsoft.com/office/drawing/2014/main" id="{F34F4E60-E16C-D577-19F4-A16E5B37C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4813" y="3110872"/>
            <a:ext cx="4226957" cy="30480"/>
          </a:xfrm>
          <a:prstGeom prst="rect">
            <a:avLst/>
          </a:prstGeom>
        </p:spPr>
      </p:pic>
      <p:pic>
        <p:nvPicPr>
          <p:cNvPr id="67" name="Image 3" descr="preencoded.png">
            <a:extLst>
              <a:ext uri="{FF2B5EF4-FFF2-40B4-BE49-F238E27FC236}">
                <a16:creationId xmlns:a16="http://schemas.microsoft.com/office/drawing/2014/main" id="{839FE350-F314-D307-2294-72483D40A7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7988" y="5154460"/>
            <a:ext cx="6448544" cy="30480"/>
          </a:xfrm>
          <a:prstGeom prst="rect">
            <a:avLst/>
          </a:prstGeom>
        </p:spPr>
      </p:pic>
      <p:pic>
        <p:nvPicPr>
          <p:cNvPr id="71" name="Image 4" descr="preencoded.png">
            <a:extLst>
              <a:ext uri="{FF2B5EF4-FFF2-40B4-BE49-F238E27FC236}">
                <a16:creationId xmlns:a16="http://schemas.microsoft.com/office/drawing/2014/main" id="{359334F6-F645-1563-382A-CEDF2F1445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3107" y="5154460"/>
            <a:ext cx="6448663" cy="30480"/>
          </a:xfrm>
          <a:prstGeom prst="rect">
            <a:avLst/>
          </a:prstGeom>
        </p:spPr>
      </p:pic>
      <p:sp>
        <p:nvSpPr>
          <p:cNvPr id="74" name="Text 0">
            <a:extLst>
              <a:ext uri="{FF2B5EF4-FFF2-40B4-BE49-F238E27FC236}">
                <a16:creationId xmlns:a16="http://schemas.microsoft.com/office/drawing/2014/main" id="{CC1136FE-D501-03E1-CCC6-3460E406F7F8}"/>
              </a:ext>
            </a:extLst>
          </p:cNvPr>
          <p:cNvSpPr/>
          <p:nvPr/>
        </p:nvSpPr>
        <p:spPr>
          <a:xfrm>
            <a:off x="4975015" y="160768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Technologies Used</a:t>
            </a:r>
            <a:endParaRPr lang="en-US" sz="4450" dirty="0"/>
          </a:p>
        </p:txBody>
      </p:sp>
      <p:pic>
        <p:nvPicPr>
          <p:cNvPr id="75" name="Image 0" descr="preencoded.png">
            <a:extLst>
              <a:ext uri="{FF2B5EF4-FFF2-40B4-BE49-F238E27FC236}">
                <a16:creationId xmlns:a16="http://schemas.microsoft.com/office/drawing/2014/main" id="{43C23BC7-4A99-93E5-6B41-766F1D6CE8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75015" y="2753666"/>
            <a:ext cx="541615" cy="541615"/>
          </a:xfrm>
          <a:prstGeom prst="rect">
            <a:avLst/>
          </a:prstGeom>
        </p:spPr>
      </p:pic>
      <p:sp>
        <p:nvSpPr>
          <p:cNvPr id="76" name="Text 1">
            <a:extLst>
              <a:ext uri="{FF2B5EF4-FFF2-40B4-BE49-F238E27FC236}">
                <a16:creationId xmlns:a16="http://schemas.microsoft.com/office/drawing/2014/main" id="{3532FA67-FDCD-B486-0694-2FAE0DB1F13A}"/>
              </a:ext>
            </a:extLst>
          </p:cNvPr>
          <p:cNvSpPr/>
          <p:nvPr/>
        </p:nvSpPr>
        <p:spPr>
          <a:xfrm>
            <a:off x="4975015" y="356602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Python</a:t>
            </a:r>
            <a:endParaRPr lang="en-US" sz="2200" dirty="0"/>
          </a:p>
        </p:txBody>
      </p:sp>
      <p:sp>
        <p:nvSpPr>
          <p:cNvPr id="77" name="Text 2">
            <a:extLst>
              <a:ext uri="{FF2B5EF4-FFF2-40B4-BE49-F238E27FC236}">
                <a16:creationId xmlns:a16="http://schemas.microsoft.com/office/drawing/2014/main" id="{BCC71870-E186-9FBA-15FC-56F3BE611741}"/>
              </a:ext>
            </a:extLst>
          </p:cNvPr>
          <p:cNvSpPr/>
          <p:nvPr/>
        </p:nvSpPr>
        <p:spPr>
          <a:xfrm>
            <a:off x="4975015" y="4052161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programming language</a:t>
            </a:r>
            <a:endParaRPr lang="en-US" sz="1700" dirty="0"/>
          </a:p>
        </p:txBody>
      </p:sp>
      <p:pic>
        <p:nvPicPr>
          <p:cNvPr id="78" name="Image 1" descr="preencoded.png">
            <a:extLst>
              <a:ext uri="{FF2B5EF4-FFF2-40B4-BE49-F238E27FC236}">
                <a16:creationId xmlns:a16="http://schemas.microsoft.com/office/drawing/2014/main" id="{0529C02A-B342-6CE1-28F7-36B7967792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67280" y="2753666"/>
            <a:ext cx="541615" cy="541615"/>
          </a:xfrm>
          <a:prstGeom prst="rect">
            <a:avLst/>
          </a:prstGeom>
        </p:spPr>
      </p:pic>
      <p:sp>
        <p:nvSpPr>
          <p:cNvPr id="79" name="Text 3">
            <a:extLst>
              <a:ext uri="{FF2B5EF4-FFF2-40B4-BE49-F238E27FC236}">
                <a16:creationId xmlns:a16="http://schemas.microsoft.com/office/drawing/2014/main" id="{5227F0D3-287B-100D-07D7-E0DF4A845D9E}"/>
              </a:ext>
            </a:extLst>
          </p:cNvPr>
          <p:cNvSpPr/>
          <p:nvPr/>
        </p:nvSpPr>
        <p:spPr>
          <a:xfrm>
            <a:off x="11667280" y="356602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Streamlit</a:t>
            </a:r>
            <a:endParaRPr lang="en-US" sz="2200" dirty="0"/>
          </a:p>
        </p:txBody>
      </p:sp>
      <p:sp>
        <p:nvSpPr>
          <p:cNvPr id="80" name="Text 4">
            <a:extLst>
              <a:ext uri="{FF2B5EF4-FFF2-40B4-BE49-F238E27FC236}">
                <a16:creationId xmlns:a16="http://schemas.microsoft.com/office/drawing/2014/main" id="{ABAEA490-5F0D-7A68-AC7A-BF3C5605F53E}"/>
              </a:ext>
            </a:extLst>
          </p:cNvPr>
          <p:cNvSpPr/>
          <p:nvPr/>
        </p:nvSpPr>
        <p:spPr>
          <a:xfrm>
            <a:off x="11667280" y="4052161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dashboard framework</a:t>
            </a:r>
            <a:endParaRPr lang="en-US" sz="1700" dirty="0"/>
          </a:p>
        </p:txBody>
      </p:sp>
      <p:pic>
        <p:nvPicPr>
          <p:cNvPr id="81" name="Image 2" descr="preencoded.png">
            <a:extLst>
              <a:ext uri="{FF2B5EF4-FFF2-40B4-BE49-F238E27FC236}">
                <a16:creationId xmlns:a16="http://schemas.microsoft.com/office/drawing/2014/main" id="{CB913722-9159-702D-169C-4FCC7F78A8B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75015" y="4832140"/>
            <a:ext cx="541615" cy="541615"/>
          </a:xfrm>
          <a:prstGeom prst="rect">
            <a:avLst/>
          </a:prstGeom>
        </p:spPr>
      </p:pic>
      <p:sp>
        <p:nvSpPr>
          <p:cNvPr id="82" name="Text 5">
            <a:extLst>
              <a:ext uri="{FF2B5EF4-FFF2-40B4-BE49-F238E27FC236}">
                <a16:creationId xmlns:a16="http://schemas.microsoft.com/office/drawing/2014/main" id="{EB4599E9-EF00-7167-5460-B989647FE77E}"/>
              </a:ext>
            </a:extLst>
          </p:cNvPr>
          <p:cNvSpPr/>
          <p:nvPr/>
        </p:nvSpPr>
        <p:spPr>
          <a:xfrm>
            <a:off x="4975015" y="564450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TensorFlow/Keras</a:t>
            </a:r>
            <a:endParaRPr lang="en-US" sz="2200" dirty="0"/>
          </a:p>
        </p:txBody>
      </p:sp>
      <p:sp>
        <p:nvSpPr>
          <p:cNvPr id="83" name="Text 6">
            <a:extLst>
              <a:ext uri="{FF2B5EF4-FFF2-40B4-BE49-F238E27FC236}">
                <a16:creationId xmlns:a16="http://schemas.microsoft.com/office/drawing/2014/main" id="{142131C1-A3F6-A169-C0FF-E397986DCAC7}"/>
              </a:ext>
            </a:extLst>
          </p:cNvPr>
          <p:cNvSpPr/>
          <p:nvPr/>
        </p:nvSpPr>
        <p:spPr>
          <a:xfrm>
            <a:off x="4975015" y="6130636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LSTM model implementation</a:t>
            </a:r>
            <a:endParaRPr lang="en-US" sz="1700" dirty="0"/>
          </a:p>
        </p:txBody>
      </p:sp>
      <p:pic>
        <p:nvPicPr>
          <p:cNvPr id="84" name="Image 3" descr="preencoded.png">
            <a:extLst>
              <a:ext uri="{FF2B5EF4-FFF2-40B4-BE49-F238E27FC236}">
                <a16:creationId xmlns:a16="http://schemas.microsoft.com/office/drawing/2014/main" id="{12C9F930-F115-69E2-4951-5C9444F6BF2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67280" y="4832140"/>
            <a:ext cx="541615" cy="541615"/>
          </a:xfrm>
          <a:prstGeom prst="rect">
            <a:avLst/>
          </a:prstGeom>
        </p:spPr>
      </p:pic>
      <p:sp>
        <p:nvSpPr>
          <p:cNvPr id="85" name="Text 7">
            <a:extLst>
              <a:ext uri="{FF2B5EF4-FFF2-40B4-BE49-F238E27FC236}">
                <a16:creationId xmlns:a16="http://schemas.microsoft.com/office/drawing/2014/main" id="{2E2E77A5-E06A-81CB-24C3-621720769534}"/>
              </a:ext>
            </a:extLst>
          </p:cNvPr>
          <p:cNvSpPr/>
          <p:nvPr/>
        </p:nvSpPr>
        <p:spPr>
          <a:xfrm>
            <a:off x="11667280" y="564450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Pandas &amp; NumPy</a:t>
            </a:r>
            <a:endParaRPr lang="en-US" sz="2200" dirty="0"/>
          </a:p>
        </p:txBody>
      </p:sp>
      <p:sp>
        <p:nvSpPr>
          <p:cNvPr id="86" name="Text 8">
            <a:extLst>
              <a:ext uri="{FF2B5EF4-FFF2-40B4-BE49-F238E27FC236}">
                <a16:creationId xmlns:a16="http://schemas.microsoft.com/office/drawing/2014/main" id="{076EED72-56A5-65D9-0625-619FAFD11C42}"/>
              </a:ext>
            </a:extLst>
          </p:cNvPr>
          <p:cNvSpPr/>
          <p:nvPr/>
        </p:nvSpPr>
        <p:spPr>
          <a:xfrm>
            <a:off x="11667280" y="6130636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manipulation and processing</a:t>
            </a:r>
            <a:endParaRPr lang="en-US" sz="1700" dirty="0"/>
          </a:p>
        </p:txBody>
      </p:sp>
      <p:pic>
        <p:nvPicPr>
          <p:cNvPr id="87" name="Image 4" descr="preencoded.png">
            <a:extLst>
              <a:ext uri="{FF2B5EF4-FFF2-40B4-BE49-F238E27FC236}">
                <a16:creationId xmlns:a16="http://schemas.microsoft.com/office/drawing/2014/main" id="{1E8F1C24-E501-B262-BFF6-81E2B44240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75015" y="6910614"/>
            <a:ext cx="541615" cy="541615"/>
          </a:xfrm>
          <a:prstGeom prst="rect">
            <a:avLst/>
          </a:prstGeom>
        </p:spPr>
      </p:pic>
      <p:sp>
        <p:nvSpPr>
          <p:cNvPr id="88" name="Text 9">
            <a:extLst>
              <a:ext uri="{FF2B5EF4-FFF2-40B4-BE49-F238E27FC236}">
                <a16:creationId xmlns:a16="http://schemas.microsoft.com/office/drawing/2014/main" id="{9A693D26-2218-AF60-53EA-6688CC462ED4}"/>
              </a:ext>
            </a:extLst>
          </p:cNvPr>
          <p:cNvSpPr/>
          <p:nvPr/>
        </p:nvSpPr>
        <p:spPr>
          <a:xfrm>
            <a:off x="4975015" y="772297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Plotly</a:t>
            </a:r>
            <a:endParaRPr lang="en-US" sz="2200" dirty="0"/>
          </a:p>
        </p:txBody>
      </p:sp>
      <p:sp>
        <p:nvSpPr>
          <p:cNvPr id="89" name="Text 10">
            <a:extLst>
              <a:ext uri="{FF2B5EF4-FFF2-40B4-BE49-F238E27FC236}">
                <a16:creationId xmlns:a16="http://schemas.microsoft.com/office/drawing/2014/main" id="{87DD18DB-2EEB-24D5-7703-DC8E6AA6E9D1}"/>
              </a:ext>
            </a:extLst>
          </p:cNvPr>
          <p:cNvSpPr/>
          <p:nvPr/>
        </p:nvSpPr>
        <p:spPr>
          <a:xfrm>
            <a:off x="4975015" y="8209110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visualizations</a:t>
            </a:r>
            <a:endParaRPr lang="en-US" sz="1700" dirty="0"/>
          </a:p>
        </p:txBody>
      </p:sp>
      <p:pic>
        <p:nvPicPr>
          <p:cNvPr id="90" name="Image 5" descr="preencoded.png">
            <a:extLst>
              <a:ext uri="{FF2B5EF4-FFF2-40B4-BE49-F238E27FC236}">
                <a16:creationId xmlns:a16="http://schemas.microsoft.com/office/drawing/2014/main" id="{52F61267-68DA-37CC-F4B0-E3FD239AF5A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67280" y="6910614"/>
            <a:ext cx="541615" cy="541615"/>
          </a:xfrm>
          <a:prstGeom prst="rect">
            <a:avLst/>
          </a:prstGeom>
        </p:spPr>
      </p:pic>
      <p:sp>
        <p:nvSpPr>
          <p:cNvPr id="91" name="Text 11">
            <a:extLst>
              <a:ext uri="{FF2B5EF4-FFF2-40B4-BE49-F238E27FC236}">
                <a16:creationId xmlns:a16="http://schemas.microsoft.com/office/drawing/2014/main" id="{18A4B97F-E613-D5D2-B276-11F1EAE6EA18}"/>
              </a:ext>
            </a:extLst>
          </p:cNvPr>
          <p:cNvSpPr/>
          <p:nvPr/>
        </p:nvSpPr>
        <p:spPr>
          <a:xfrm>
            <a:off x="11667280" y="772297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yFinance</a:t>
            </a:r>
            <a:endParaRPr lang="en-US" sz="2200" dirty="0"/>
          </a:p>
        </p:txBody>
      </p:sp>
      <p:sp>
        <p:nvSpPr>
          <p:cNvPr id="92" name="Text 12">
            <a:extLst>
              <a:ext uri="{FF2B5EF4-FFF2-40B4-BE49-F238E27FC236}">
                <a16:creationId xmlns:a16="http://schemas.microsoft.com/office/drawing/2014/main" id="{B377C909-E463-A872-7D07-FFE0A6DDBEE8}"/>
              </a:ext>
            </a:extLst>
          </p:cNvPr>
          <p:cNvSpPr/>
          <p:nvPr/>
        </p:nvSpPr>
        <p:spPr>
          <a:xfrm>
            <a:off x="11667280" y="8209110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data API integration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776949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D14D72E7-A6DF-CBBE-4122-BC6B05CFDFB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49855066-BD0C-D5D7-46BC-B229E19D6DC8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F27CDA52-19F9-3938-2044-0B08731FE7A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380FD013-7DD3-070A-AE28-6FEAB96259C5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D985491D-DFCB-7DEE-155F-221E9473BF1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903B9E16-29C4-9B39-7A11-F17A0B0CCFB1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9" name="Freeform 10">
                <a:extLst>
                  <a:ext uri="{FF2B5EF4-FFF2-40B4-BE49-F238E27FC236}">
                    <a16:creationId xmlns:a16="http://schemas.microsoft.com/office/drawing/2014/main" id="{5A2DB4BB-3064-368F-EB4D-2E5C46804B0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1">
                <a:extLst>
                  <a:ext uri="{FF2B5EF4-FFF2-40B4-BE49-F238E27FC236}">
                    <a16:creationId xmlns:a16="http://schemas.microsoft.com/office/drawing/2014/main" id="{934BE2E5-4AFB-930D-7598-A981020F09D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12">
              <a:extLst>
                <a:ext uri="{FF2B5EF4-FFF2-40B4-BE49-F238E27FC236}">
                  <a16:creationId xmlns:a16="http://schemas.microsoft.com/office/drawing/2014/main" id="{092920D9-8DA7-FBAA-D61F-CC7508E4206F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7" name="Freeform 13">
                <a:extLst>
                  <a:ext uri="{FF2B5EF4-FFF2-40B4-BE49-F238E27FC236}">
                    <a16:creationId xmlns:a16="http://schemas.microsoft.com/office/drawing/2014/main" id="{5988E8EF-8759-71C2-7C7B-151326054D47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14">
                <a:extLst>
                  <a:ext uri="{FF2B5EF4-FFF2-40B4-BE49-F238E27FC236}">
                    <a16:creationId xmlns:a16="http://schemas.microsoft.com/office/drawing/2014/main" id="{AB252A69-18A2-E4AE-D600-E0104EF7362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Freeform 15">
            <a:extLst>
              <a:ext uri="{FF2B5EF4-FFF2-40B4-BE49-F238E27FC236}">
                <a16:creationId xmlns:a16="http://schemas.microsoft.com/office/drawing/2014/main" id="{98B0BA9F-FA1E-DC38-A696-DB08490C1E30}"/>
              </a:ext>
            </a:extLst>
          </p:cNvPr>
          <p:cNvSpPr/>
          <p:nvPr/>
        </p:nvSpPr>
        <p:spPr>
          <a:xfrm>
            <a:off x="10736738" y="7628955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33769CE3-D0D2-C9EF-1EA8-9F5B95D18A5C}"/>
              </a:ext>
            </a:extLst>
          </p:cNvPr>
          <p:cNvSpPr/>
          <p:nvPr/>
        </p:nvSpPr>
        <p:spPr>
          <a:xfrm>
            <a:off x="10736738" y="7895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9F7FCB-4AB2-E91E-42EB-25A2C16A5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8FAFDD3-4ECB-7091-F8B4-6C4FE5D598DE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 0">
            <a:extLst>
              <a:ext uri="{FF2B5EF4-FFF2-40B4-BE49-F238E27FC236}">
                <a16:creationId xmlns:a16="http://schemas.microsoft.com/office/drawing/2014/main" id="{11F79F4A-B53F-AA5C-B8DA-99D1C77FE80C}"/>
              </a:ext>
            </a:extLst>
          </p:cNvPr>
          <p:cNvSpPr/>
          <p:nvPr/>
        </p:nvSpPr>
        <p:spPr>
          <a:xfrm>
            <a:off x="4768810" y="1649476"/>
            <a:ext cx="4629864" cy="578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Architecture</a:t>
            </a:r>
            <a:endParaRPr lang="en-US" sz="3600" dirty="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62E80661-5860-8BDB-74EA-980B0A829C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810" y="2513870"/>
            <a:ext cx="879634" cy="1055608"/>
          </a:xfrm>
          <a:prstGeom prst="rect">
            <a:avLst/>
          </a:prstGeom>
        </p:spPr>
      </p:pic>
      <p:sp>
        <p:nvSpPr>
          <p:cNvPr id="24" name="Text 1">
            <a:extLst>
              <a:ext uri="{FF2B5EF4-FFF2-40B4-BE49-F238E27FC236}">
                <a16:creationId xmlns:a16="http://schemas.microsoft.com/office/drawing/2014/main" id="{F7000947-2548-FF25-EC6B-C710CD3234CB}"/>
              </a:ext>
            </a:extLst>
          </p:cNvPr>
          <p:cNvSpPr/>
          <p:nvPr/>
        </p:nvSpPr>
        <p:spPr>
          <a:xfrm>
            <a:off x="5791200" y="2689725"/>
            <a:ext cx="231493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Input</a:t>
            </a:r>
            <a:endParaRPr lang="en-US" sz="180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79584771-5713-27F8-D590-667D4957CBF0}"/>
              </a:ext>
            </a:extLst>
          </p:cNvPr>
          <p:cNvSpPr/>
          <p:nvPr/>
        </p:nvSpPr>
        <p:spPr>
          <a:xfrm>
            <a:off x="5791200" y="3064653"/>
            <a:ext cx="11756112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CSV / Live API</a:t>
            </a:r>
            <a:endParaRPr lang="en-US" sz="1350" dirty="0"/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F93DF9D6-536C-4BE6-D846-4F81F0E598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8810" y="3569478"/>
            <a:ext cx="879634" cy="1055608"/>
          </a:xfrm>
          <a:prstGeom prst="rect">
            <a:avLst/>
          </a:prstGeom>
        </p:spPr>
      </p:pic>
      <p:sp>
        <p:nvSpPr>
          <p:cNvPr id="27" name="Text 3">
            <a:extLst>
              <a:ext uri="{FF2B5EF4-FFF2-40B4-BE49-F238E27FC236}">
                <a16:creationId xmlns:a16="http://schemas.microsoft.com/office/drawing/2014/main" id="{9999879E-F6B3-4C74-F5B0-903806AD6C8C}"/>
              </a:ext>
            </a:extLst>
          </p:cNvPr>
          <p:cNvSpPr/>
          <p:nvPr/>
        </p:nvSpPr>
        <p:spPr>
          <a:xfrm>
            <a:off x="5791200" y="3745333"/>
            <a:ext cx="231493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Preprocessing</a:t>
            </a:r>
            <a:endParaRPr lang="en-US" sz="18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1E88EDC9-6209-59CF-A5E7-63F276B95E86}"/>
              </a:ext>
            </a:extLst>
          </p:cNvPr>
          <p:cNvSpPr/>
          <p:nvPr/>
        </p:nvSpPr>
        <p:spPr>
          <a:xfrm>
            <a:off x="5791200" y="4120261"/>
            <a:ext cx="11756112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cleaning</a:t>
            </a:r>
            <a:endParaRPr lang="en-US" sz="1350" dirty="0"/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460E9328-F025-4E7B-89FB-E2721C9AF1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8810" y="4625086"/>
            <a:ext cx="879634" cy="1055608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DD1AD636-6105-D678-26E3-E2FB1CF55612}"/>
              </a:ext>
            </a:extLst>
          </p:cNvPr>
          <p:cNvSpPr/>
          <p:nvPr/>
        </p:nvSpPr>
        <p:spPr>
          <a:xfrm>
            <a:off x="5791200" y="4800941"/>
            <a:ext cx="231493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2C0FCBE9-5ED6-3F4D-23AD-43F7B908984C}"/>
              </a:ext>
            </a:extLst>
          </p:cNvPr>
          <p:cNvSpPr/>
          <p:nvPr/>
        </p:nvSpPr>
        <p:spPr>
          <a:xfrm>
            <a:off x="5791200" y="5175869"/>
            <a:ext cx="11756112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indicators</a:t>
            </a:r>
            <a:endParaRPr lang="en-US" sz="1350" dirty="0"/>
          </a:p>
        </p:txBody>
      </p:sp>
      <p:pic>
        <p:nvPicPr>
          <p:cNvPr id="32" name="Image 3" descr="preencoded.png">
            <a:extLst>
              <a:ext uri="{FF2B5EF4-FFF2-40B4-BE49-F238E27FC236}">
                <a16:creationId xmlns:a16="http://schemas.microsoft.com/office/drawing/2014/main" id="{90E97021-EA89-1279-8B49-FCCBABB8A9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8810" y="5680694"/>
            <a:ext cx="879634" cy="1055608"/>
          </a:xfrm>
          <a:prstGeom prst="rect">
            <a:avLst/>
          </a:prstGeom>
        </p:spPr>
      </p:pic>
      <p:sp>
        <p:nvSpPr>
          <p:cNvPr id="33" name="Text 7">
            <a:extLst>
              <a:ext uri="{FF2B5EF4-FFF2-40B4-BE49-F238E27FC236}">
                <a16:creationId xmlns:a16="http://schemas.microsoft.com/office/drawing/2014/main" id="{CC0D756C-E835-A84D-9979-98F5BBFBE14D}"/>
              </a:ext>
            </a:extLst>
          </p:cNvPr>
          <p:cNvSpPr/>
          <p:nvPr/>
        </p:nvSpPr>
        <p:spPr>
          <a:xfrm>
            <a:off x="5791200" y="5856549"/>
            <a:ext cx="231493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LSTM Training</a:t>
            </a:r>
            <a:endParaRPr lang="en-US" sz="18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66830765-A269-1C6B-CE79-42B23D4D3CA0}"/>
              </a:ext>
            </a:extLst>
          </p:cNvPr>
          <p:cNvSpPr/>
          <p:nvPr/>
        </p:nvSpPr>
        <p:spPr>
          <a:xfrm>
            <a:off x="5791200" y="6231477"/>
            <a:ext cx="11756112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learning</a:t>
            </a:r>
            <a:endParaRPr lang="en-US" sz="1350" dirty="0"/>
          </a:p>
        </p:txBody>
      </p:sp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F642D7E4-C1F7-2201-9C54-7A57A4C52A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8810" y="6736302"/>
            <a:ext cx="879634" cy="1055608"/>
          </a:xfrm>
          <a:prstGeom prst="rect">
            <a:avLst/>
          </a:prstGeom>
        </p:spPr>
      </p:pic>
      <p:sp>
        <p:nvSpPr>
          <p:cNvPr id="36" name="Text 9">
            <a:extLst>
              <a:ext uri="{FF2B5EF4-FFF2-40B4-BE49-F238E27FC236}">
                <a16:creationId xmlns:a16="http://schemas.microsoft.com/office/drawing/2014/main" id="{174EE8A1-840E-E0E6-CDB4-B69D97478484}"/>
              </a:ext>
            </a:extLst>
          </p:cNvPr>
          <p:cNvSpPr/>
          <p:nvPr/>
        </p:nvSpPr>
        <p:spPr>
          <a:xfrm>
            <a:off x="5791200" y="6912157"/>
            <a:ext cx="231493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Prediction</a:t>
            </a:r>
            <a:endParaRPr lang="en-US" sz="18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D1439AF2-0B18-ED05-3387-8A028186CACC}"/>
              </a:ext>
            </a:extLst>
          </p:cNvPr>
          <p:cNvSpPr/>
          <p:nvPr/>
        </p:nvSpPr>
        <p:spPr>
          <a:xfrm>
            <a:off x="5791200" y="7287085"/>
            <a:ext cx="11756112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Signal generation</a:t>
            </a:r>
            <a:endParaRPr lang="en-US" sz="1350" dirty="0"/>
          </a:p>
        </p:txBody>
      </p:sp>
      <p:pic>
        <p:nvPicPr>
          <p:cNvPr id="38" name="Image 5" descr="preencoded.png">
            <a:extLst>
              <a:ext uri="{FF2B5EF4-FFF2-40B4-BE49-F238E27FC236}">
                <a16:creationId xmlns:a16="http://schemas.microsoft.com/office/drawing/2014/main" id="{3F168BEB-834A-4A45-8F11-BC1FD61BC1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8810" y="7791910"/>
            <a:ext cx="879634" cy="1055608"/>
          </a:xfrm>
          <a:prstGeom prst="rect">
            <a:avLst/>
          </a:prstGeom>
        </p:spPr>
      </p:pic>
      <p:sp>
        <p:nvSpPr>
          <p:cNvPr id="39" name="Text 11">
            <a:extLst>
              <a:ext uri="{FF2B5EF4-FFF2-40B4-BE49-F238E27FC236}">
                <a16:creationId xmlns:a16="http://schemas.microsoft.com/office/drawing/2014/main" id="{611D0C18-243B-0A73-DA9F-D0C6F2FD5E35}"/>
              </a:ext>
            </a:extLst>
          </p:cNvPr>
          <p:cNvSpPr/>
          <p:nvPr/>
        </p:nvSpPr>
        <p:spPr>
          <a:xfrm>
            <a:off x="5791200" y="7967765"/>
            <a:ext cx="231493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2DB525F9-A579-331E-8D3A-17C552F2DA4D}"/>
              </a:ext>
            </a:extLst>
          </p:cNvPr>
          <p:cNvSpPr/>
          <p:nvPr/>
        </p:nvSpPr>
        <p:spPr>
          <a:xfrm>
            <a:off x="5791200" y="8342693"/>
            <a:ext cx="11756112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Visualization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938734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E728F1DE-C1FB-FF3C-DC36-05848EB971F5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47D66A01-4687-E56A-4C62-ACAF33FC070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EFD1BC01-16D1-77D5-3944-9E8581B662AC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B745FBAD-37A9-351E-E938-31D6DAB3126E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1939E215-5844-F070-C534-365432D7EDC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A1F99269-2425-6396-A6C7-6761E8F66664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9" name="Freeform 10">
                <a:extLst>
                  <a:ext uri="{FF2B5EF4-FFF2-40B4-BE49-F238E27FC236}">
                    <a16:creationId xmlns:a16="http://schemas.microsoft.com/office/drawing/2014/main" id="{87905C32-8865-F4F5-31BF-85A6FB982F6A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1">
                <a:extLst>
                  <a:ext uri="{FF2B5EF4-FFF2-40B4-BE49-F238E27FC236}">
                    <a16:creationId xmlns:a16="http://schemas.microsoft.com/office/drawing/2014/main" id="{04B63E54-6C78-AD8B-0F2B-CD94EB796F6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12">
              <a:extLst>
                <a:ext uri="{FF2B5EF4-FFF2-40B4-BE49-F238E27FC236}">
                  <a16:creationId xmlns:a16="http://schemas.microsoft.com/office/drawing/2014/main" id="{39E67547-E06D-8D15-49D5-FDE9D1F3AC8E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7" name="Freeform 13">
                <a:extLst>
                  <a:ext uri="{FF2B5EF4-FFF2-40B4-BE49-F238E27FC236}">
                    <a16:creationId xmlns:a16="http://schemas.microsoft.com/office/drawing/2014/main" id="{1ED11B12-0460-2D0D-2F06-22813BDA2EA1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14">
                <a:extLst>
                  <a:ext uri="{FF2B5EF4-FFF2-40B4-BE49-F238E27FC236}">
                    <a16:creationId xmlns:a16="http://schemas.microsoft.com/office/drawing/2014/main" id="{8D8B6D91-57D5-809D-7132-2C97DEA1E92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Freeform 15">
            <a:extLst>
              <a:ext uri="{FF2B5EF4-FFF2-40B4-BE49-F238E27FC236}">
                <a16:creationId xmlns:a16="http://schemas.microsoft.com/office/drawing/2014/main" id="{8DA6B3B3-A0C4-6923-7256-690B2D5F627E}"/>
              </a:ext>
            </a:extLst>
          </p:cNvPr>
          <p:cNvSpPr/>
          <p:nvPr/>
        </p:nvSpPr>
        <p:spPr>
          <a:xfrm>
            <a:off x="10736738" y="7628955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8A15F47E-26DC-83E3-62E0-0632E5670D8F}"/>
              </a:ext>
            </a:extLst>
          </p:cNvPr>
          <p:cNvSpPr/>
          <p:nvPr/>
        </p:nvSpPr>
        <p:spPr>
          <a:xfrm>
            <a:off x="10736738" y="7895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2426C4-FA56-2A8C-BE08-6BD08B6762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163958-48A8-6989-038B-5AA6017A07EF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 0">
            <a:extLst>
              <a:ext uri="{FF2B5EF4-FFF2-40B4-BE49-F238E27FC236}">
                <a16:creationId xmlns:a16="http://schemas.microsoft.com/office/drawing/2014/main" id="{44EE6170-5D6D-D057-45C4-D082886B752B}"/>
              </a:ext>
            </a:extLst>
          </p:cNvPr>
          <p:cNvSpPr/>
          <p:nvPr/>
        </p:nvSpPr>
        <p:spPr>
          <a:xfrm>
            <a:off x="5097882" y="1427108"/>
            <a:ext cx="5189118" cy="566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Processing Pipeline</a:t>
            </a:r>
            <a:endParaRPr lang="en-US" sz="3550" dirty="0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055AB350-AB1B-7719-53E9-66A5BBE3E845}"/>
              </a:ext>
            </a:extLst>
          </p:cNvPr>
          <p:cNvSpPr/>
          <p:nvPr/>
        </p:nvSpPr>
        <p:spPr>
          <a:xfrm>
            <a:off x="5270166" y="2611780"/>
            <a:ext cx="172283" cy="775335"/>
          </a:xfrm>
          <a:prstGeom prst="roundRect">
            <a:avLst>
              <a:gd name="adj" fmla="val 15002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9AC031B5-F9BA-63A6-1903-616F8BF75449}"/>
              </a:ext>
            </a:extLst>
          </p:cNvPr>
          <p:cNvSpPr/>
          <p:nvPr/>
        </p:nvSpPr>
        <p:spPr>
          <a:xfrm>
            <a:off x="5097882" y="2498790"/>
            <a:ext cx="516850" cy="516850"/>
          </a:xfrm>
          <a:prstGeom prst="roundRect">
            <a:avLst>
              <a:gd name="adj" fmla="val 8845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116D6D80-74F5-3099-5E83-08475BAF2D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7065" y="2627972"/>
            <a:ext cx="258366" cy="258366"/>
          </a:xfrm>
          <a:prstGeom prst="rect">
            <a:avLst/>
          </a:prstGeom>
        </p:spPr>
      </p:pic>
      <p:sp>
        <p:nvSpPr>
          <p:cNvPr id="26" name="Text 3">
            <a:extLst>
              <a:ext uri="{FF2B5EF4-FFF2-40B4-BE49-F238E27FC236}">
                <a16:creationId xmlns:a16="http://schemas.microsoft.com/office/drawing/2014/main" id="{63B28A96-41B3-007B-966E-50E26EF8DF58}"/>
              </a:ext>
            </a:extLst>
          </p:cNvPr>
          <p:cNvSpPr/>
          <p:nvPr/>
        </p:nvSpPr>
        <p:spPr>
          <a:xfrm>
            <a:off x="5751654" y="2525698"/>
            <a:ext cx="226718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Cleaning</a:t>
            </a:r>
            <a:endParaRPr lang="en-US" sz="175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22E41ED2-C979-141F-2D15-7E53718A4956}"/>
              </a:ext>
            </a:extLst>
          </p:cNvPr>
          <p:cNvSpPr/>
          <p:nvPr/>
        </p:nvSpPr>
        <p:spPr>
          <a:xfrm>
            <a:off x="5751654" y="2945988"/>
            <a:ext cx="7333774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 stock data</a:t>
            </a:r>
            <a:endParaRPr lang="en-US" sz="135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84C697CD-7E68-EA26-6627-57C4018DE886}"/>
              </a:ext>
            </a:extLst>
          </p:cNvPr>
          <p:cNvSpPr/>
          <p:nvPr/>
        </p:nvSpPr>
        <p:spPr>
          <a:xfrm>
            <a:off x="5528531" y="3782521"/>
            <a:ext cx="172283" cy="775335"/>
          </a:xfrm>
          <a:prstGeom prst="roundRect">
            <a:avLst>
              <a:gd name="adj" fmla="val 15002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F9DF40DE-DC5C-5B9F-9A68-B6947CD89237}"/>
              </a:ext>
            </a:extLst>
          </p:cNvPr>
          <p:cNvSpPr/>
          <p:nvPr/>
        </p:nvSpPr>
        <p:spPr>
          <a:xfrm>
            <a:off x="5356248" y="3669531"/>
            <a:ext cx="516850" cy="516850"/>
          </a:xfrm>
          <a:prstGeom prst="roundRect">
            <a:avLst>
              <a:gd name="adj" fmla="val 8845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83B62868-8019-2F25-67F5-5E51722B7C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5431" y="3798714"/>
            <a:ext cx="258366" cy="258366"/>
          </a:xfrm>
          <a:prstGeom prst="rect">
            <a:avLst/>
          </a:prstGeom>
        </p:spPr>
      </p:pic>
      <p:sp>
        <p:nvSpPr>
          <p:cNvPr id="31" name="Text 7">
            <a:extLst>
              <a:ext uri="{FF2B5EF4-FFF2-40B4-BE49-F238E27FC236}">
                <a16:creationId xmlns:a16="http://schemas.microsoft.com/office/drawing/2014/main" id="{C786CE99-EEB6-E4DA-BF4D-881302EFDF3B}"/>
              </a:ext>
            </a:extLst>
          </p:cNvPr>
          <p:cNvSpPr/>
          <p:nvPr/>
        </p:nvSpPr>
        <p:spPr>
          <a:xfrm>
            <a:off x="6010020" y="3696439"/>
            <a:ext cx="226718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Handle Missing Values</a:t>
            </a:r>
            <a:endParaRPr lang="en-US" sz="175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A0771D26-034D-1F52-7AFE-1F5BA4B07973}"/>
              </a:ext>
            </a:extLst>
          </p:cNvPr>
          <p:cNvSpPr/>
          <p:nvPr/>
        </p:nvSpPr>
        <p:spPr>
          <a:xfrm>
            <a:off x="6010020" y="4116730"/>
            <a:ext cx="707540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Fill gaps in data</a:t>
            </a:r>
            <a:endParaRPr lang="en-US" sz="135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E0F41DA5-D7DC-786A-F817-74E7B50595A0}"/>
              </a:ext>
            </a:extLst>
          </p:cNvPr>
          <p:cNvSpPr/>
          <p:nvPr/>
        </p:nvSpPr>
        <p:spPr>
          <a:xfrm>
            <a:off x="5787016" y="4953263"/>
            <a:ext cx="172283" cy="775335"/>
          </a:xfrm>
          <a:prstGeom prst="roundRect">
            <a:avLst>
              <a:gd name="adj" fmla="val 15002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41A394DF-3556-3DA6-0108-8C3C7AFBF7F8}"/>
              </a:ext>
            </a:extLst>
          </p:cNvPr>
          <p:cNvSpPr/>
          <p:nvPr/>
        </p:nvSpPr>
        <p:spPr>
          <a:xfrm>
            <a:off x="5614733" y="4840273"/>
            <a:ext cx="516850" cy="516850"/>
          </a:xfrm>
          <a:prstGeom prst="roundRect">
            <a:avLst>
              <a:gd name="adj" fmla="val 8845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D0F10A47-6F5B-EC28-DB34-6A87C059A4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43915" y="4969455"/>
            <a:ext cx="258366" cy="258366"/>
          </a:xfrm>
          <a:prstGeom prst="rect">
            <a:avLst/>
          </a:prstGeom>
        </p:spPr>
      </p:pic>
      <p:sp>
        <p:nvSpPr>
          <p:cNvPr id="36" name="Text 11">
            <a:extLst>
              <a:ext uri="{FF2B5EF4-FFF2-40B4-BE49-F238E27FC236}">
                <a16:creationId xmlns:a16="http://schemas.microsoft.com/office/drawing/2014/main" id="{5879CA7C-2E34-A7ED-5A72-294B0A2F040A}"/>
              </a:ext>
            </a:extLst>
          </p:cNvPr>
          <p:cNvSpPr/>
          <p:nvPr/>
        </p:nvSpPr>
        <p:spPr>
          <a:xfrm>
            <a:off x="6268505" y="4867181"/>
            <a:ext cx="226718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Date Formatting</a:t>
            </a:r>
            <a:endParaRPr lang="en-US" sz="175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EA36AEB7-542B-E28B-7B04-01B560F3B5B5}"/>
              </a:ext>
            </a:extLst>
          </p:cNvPr>
          <p:cNvSpPr/>
          <p:nvPr/>
        </p:nvSpPr>
        <p:spPr>
          <a:xfrm>
            <a:off x="6268505" y="5287471"/>
            <a:ext cx="6816923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Standardize dates</a:t>
            </a:r>
            <a:endParaRPr lang="en-US" sz="1350" dirty="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DA8507DB-D12B-1C5F-A44C-55625C42844B}"/>
              </a:ext>
            </a:extLst>
          </p:cNvPr>
          <p:cNvSpPr/>
          <p:nvPr/>
        </p:nvSpPr>
        <p:spPr>
          <a:xfrm>
            <a:off x="6045501" y="6124005"/>
            <a:ext cx="172283" cy="775335"/>
          </a:xfrm>
          <a:prstGeom prst="roundRect">
            <a:avLst>
              <a:gd name="adj" fmla="val 15002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0268E227-D483-C129-8DAD-9A55968AF180}"/>
              </a:ext>
            </a:extLst>
          </p:cNvPr>
          <p:cNvSpPr/>
          <p:nvPr/>
        </p:nvSpPr>
        <p:spPr>
          <a:xfrm>
            <a:off x="5873217" y="6011014"/>
            <a:ext cx="516850" cy="516850"/>
          </a:xfrm>
          <a:prstGeom prst="roundRect">
            <a:avLst>
              <a:gd name="adj" fmla="val 8845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3" descr="preencoded.png">
            <a:extLst>
              <a:ext uri="{FF2B5EF4-FFF2-40B4-BE49-F238E27FC236}">
                <a16:creationId xmlns:a16="http://schemas.microsoft.com/office/drawing/2014/main" id="{11852C4A-C812-6516-E319-95266765373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02400" y="6140197"/>
            <a:ext cx="258366" cy="258366"/>
          </a:xfrm>
          <a:prstGeom prst="rect">
            <a:avLst/>
          </a:prstGeom>
        </p:spPr>
      </p:pic>
      <p:sp>
        <p:nvSpPr>
          <p:cNvPr id="41" name="Text 15">
            <a:extLst>
              <a:ext uri="{FF2B5EF4-FFF2-40B4-BE49-F238E27FC236}">
                <a16:creationId xmlns:a16="http://schemas.microsoft.com/office/drawing/2014/main" id="{9DAA1BDB-DBFA-29F5-B37B-CBB068DAA2E5}"/>
              </a:ext>
            </a:extLst>
          </p:cNvPr>
          <p:cNvSpPr/>
          <p:nvPr/>
        </p:nvSpPr>
        <p:spPr>
          <a:xfrm>
            <a:off x="6526989" y="6037922"/>
            <a:ext cx="226718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Normalization</a:t>
            </a:r>
            <a:endParaRPr lang="en-US" sz="175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4E3F6630-8B64-28E6-46AD-02AAAAB2549A}"/>
              </a:ext>
            </a:extLst>
          </p:cNvPr>
          <p:cNvSpPr/>
          <p:nvPr/>
        </p:nvSpPr>
        <p:spPr>
          <a:xfrm>
            <a:off x="6526989" y="6458213"/>
            <a:ext cx="6558439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MinMaxScaler</a:t>
            </a:r>
            <a:endParaRPr lang="en-US" sz="1350" dirty="0"/>
          </a:p>
        </p:txBody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6C1321F5-1480-0AC3-112B-6FA2E6052B8C}"/>
              </a:ext>
            </a:extLst>
          </p:cNvPr>
          <p:cNvSpPr/>
          <p:nvPr/>
        </p:nvSpPr>
        <p:spPr>
          <a:xfrm>
            <a:off x="5787016" y="7294746"/>
            <a:ext cx="172283" cy="775335"/>
          </a:xfrm>
          <a:prstGeom prst="roundRect">
            <a:avLst>
              <a:gd name="adj" fmla="val 15002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7A8FD6F1-C7D8-5BF8-EF58-C93A5B744480}"/>
              </a:ext>
            </a:extLst>
          </p:cNvPr>
          <p:cNvSpPr/>
          <p:nvPr/>
        </p:nvSpPr>
        <p:spPr>
          <a:xfrm>
            <a:off x="5614733" y="7181756"/>
            <a:ext cx="516850" cy="516850"/>
          </a:xfrm>
          <a:prstGeom prst="roundRect">
            <a:avLst>
              <a:gd name="adj" fmla="val 8845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4" descr="preencoded.png">
            <a:extLst>
              <a:ext uri="{FF2B5EF4-FFF2-40B4-BE49-F238E27FC236}">
                <a16:creationId xmlns:a16="http://schemas.microsoft.com/office/drawing/2014/main" id="{941AE1FC-16F4-4F32-0D39-8D2E3B47BA8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43915" y="7310939"/>
            <a:ext cx="258366" cy="258366"/>
          </a:xfrm>
          <a:prstGeom prst="rect">
            <a:avLst/>
          </a:prstGeom>
        </p:spPr>
      </p:pic>
      <p:sp>
        <p:nvSpPr>
          <p:cNvPr id="46" name="Text 19">
            <a:extLst>
              <a:ext uri="{FF2B5EF4-FFF2-40B4-BE49-F238E27FC236}">
                <a16:creationId xmlns:a16="http://schemas.microsoft.com/office/drawing/2014/main" id="{19C47D4C-A73B-A1A2-7EC5-16A6E68E2D47}"/>
              </a:ext>
            </a:extLst>
          </p:cNvPr>
          <p:cNvSpPr/>
          <p:nvPr/>
        </p:nvSpPr>
        <p:spPr>
          <a:xfrm>
            <a:off x="6268505" y="7208664"/>
            <a:ext cx="226718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Time-Series</a:t>
            </a:r>
            <a:endParaRPr lang="en-US" sz="1750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8781CE63-BA06-D97A-BEF2-82A411D0A099}"/>
              </a:ext>
            </a:extLst>
          </p:cNvPr>
          <p:cNvSpPr/>
          <p:nvPr/>
        </p:nvSpPr>
        <p:spPr>
          <a:xfrm>
            <a:off x="6268505" y="7628955"/>
            <a:ext cx="6816923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60-day sequences</a:t>
            </a:r>
            <a:endParaRPr lang="en-US" sz="1350" dirty="0"/>
          </a:p>
        </p:txBody>
      </p:sp>
      <p:pic>
        <p:nvPicPr>
          <p:cNvPr id="48" name="Image 5" descr="preencoded.png">
            <a:extLst>
              <a:ext uri="{FF2B5EF4-FFF2-40B4-BE49-F238E27FC236}">
                <a16:creationId xmlns:a16="http://schemas.microsoft.com/office/drawing/2014/main" id="{955464C8-EFAF-5165-30AC-AB06EF772FF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513339" y="2473786"/>
            <a:ext cx="4107061" cy="547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89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50E2A80E-7C59-9FF7-9072-F085869D0BA7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1313A1A0-8177-1E95-B870-E9C508B1405D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EB60F3DB-C301-E170-4F45-FE500E796895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5AED435D-C2DE-21D6-5668-DDE8DC3EF91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7C761FEE-F66C-86A6-31D3-AEA108F143B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AEDEDB9D-9070-F3D9-A43E-7C8D4BE7A51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9" name="Freeform 10">
                <a:extLst>
                  <a:ext uri="{FF2B5EF4-FFF2-40B4-BE49-F238E27FC236}">
                    <a16:creationId xmlns:a16="http://schemas.microsoft.com/office/drawing/2014/main" id="{29FF905C-F3AF-14FA-6B00-A685D6B7A776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1">
                <a:extLst>
                  <a:ext uri="{FF2B5EF4-FFF2-40B4-BE49-F238E27FC236}">
                    <a16:creationId xmlns:a16="http://schemas.microsoft.com/office/drawing/2014/main" id="{5A5DAC2A-E205-9E14-2919-78DB1BDD4EA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12">
              <a:extLst>
                <a:ext uri="{FF2B5EF4-FFF2-40B4-BE49-F238E27FC236}">
                  <a16:creationId xmlns:a16="http://schemas.microsoft.com/office/drawing/2014/main" id="{4E35A18D-0A6B-62F8-4A1F-AEE979CE703C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7" name="Freeform 13">
                <a:extLst>
                  <a:ext uri="{FF2B5EF4-FFF2-40B4-BE49-F238E27FC236}">
                    <a16:creationId xmlns:a16="http://schemas.microsoft.com/office/drawing/2014/main" id="{0C5D04BC-0550-A745-31F8-CA8B0BD3820A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14">
                <a:extLst>
                  <a:ext uri="{FF2B5EF4-FFF2-40B4-BE49-F238E27FC236}">
                    <a16:creationId xmlns:a16="http://schemas.microsoft.com/office/drawing/2014/main" id="{991CAA34-6E75-E870-47BB-29C953FA183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Freeform 15">
            <a:extLst>
              <a:ext uri="{FF2B5EF4-FFF2-40B4-BE49-F238E27FC236}">
                <a16:creationId xmlns:a16="http://schemas.microsoft.com/office/drawing/2014/main" id="{230A57FA-33C2-7260-6F23-56319EC9B7CA}"/>
              </a:ext>
            </a:extLst>
          </p:cNvPr>
          <p:cNvSpPr/>
          <p:nvPr/>
        </p:nvSpPr>
        <p:spPr>
          <a:xfrm>
            <a:off x="10736738" y="7628955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19B024FA-758B-E178-0199-282C5E89277F}"/>
              </a:ext>
            </a:extLst>
          </p:cNvPr>
          <p:cNvSpPr/>
          <p:nvPr/>
        </p:nvSpPr>
        <p:spPr>
          <a:xfrm>
            <a:off x="10736738" y="7895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0F6BA22-FCCE-D8CD-1AF8-9FA7AB1E77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1C4ED8-32F5-8B07-6FC7-6BF181A340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 0">
            <a:extLst>
              <a:ext uri="{FF2B5EF4-FFF2-40B4-BE49-F238E27FC236}">
                <a16:creationId xmlns:a16="http://schemas.microsoft.com/office/drawing/2014/main" id="{C1F1A5F3-9FDD-AEEB-2CBF-AC1DA6087508}"/>
              </a:ext>
            </a:extLst>
          </p:cNvPr>
          <p:cNvSpPr/>
          <p:nvPr/>
        </p:nvSpPr>
        <p:spPr>
          <a:xfrm>
            <a:off x="4793025" y="1813832"/>
            <a:ext cx="648402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Technical Indicators Used</a:t>
            </a:r>
            <a:endParaRPr lang="en-US" sz="4450" dirty="0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54192A9D-87AB-82BE-C473-F9F7F913DE49}"/>
              </a:ext>
            </a:extLst>
          </p:cNvPr>
          <p:cNvSpPr/>
          <p:nvPr/>
        </p:nvSpPr>
        <p:spPr>
          <a:xfrm>
            <a:off x="4793025" y="3284730"/>
            <a:ext cx="4226838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9289ADA3-0A31-8B06-C5C0-3E64C0372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025" y="3254250"/>
            <a:ext cx="4226838" cy="121920"/>
          </a:xfrm>
          <a:prstGeom prst="rect">
            <a:avLst/>
          </a:prstGeom>
        </p:spPr>
      </p:pic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670E0E04-0CA9-F415-28EE-85395BA41D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403" y="2959808"/>
            <a:ext cx="649962" cy="649962"/>
          </a:xfrm>
          <a:prstGeom prst="rect">
            <a:avLst/>
          </a:prstGeom>
        </p:spPr>
      </p:pic>
      <p:sp>
        <p:nvSpPr>
          <p:cNvPr id="24" name="Text 2">
            <a:extLst>
              <a:ext uri="{FF2B5EF4-FFF2-40B4-BE49-F238E27FC236}">
                <a16:creationId xmlns:a16="http://schemas.microsoft.com/office/drawing/2014/main" id="{30F8D691-AA15-7993-4F51-E6E528F27B48}"/>
              </a:ext>
            </a:extLst>
          </p:cNvPr>
          <p:cNvSpPr/>
          <p:nvPr/>
        </p:nvSpPr>
        <p:spPr>
          <a:xfrm>
            <a:off x="6776428" y="3122329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0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9531D907-9CCC-BC17-5390-4A4112064B8B}"/>
              </a:ext>
            </a:extLst>
          </p:cNvPr>
          <p:cNvSpPr/>
          <p:nvPr/>
        </p:nvSpPr>
        <p:spPr>
          <a:xfrm>
            <a:off x="5040080" y="382634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Moving Average</a:t>
            </a:r>
            <a:endParaRPr lang="en-US" sz="22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D991CF52-8783-550D-B6E1-AB38221DE61E}"/>
              </a:ext>
            </a:extLst>
          </p:cNvPr>
          <p:cNvSpPr/>
          <p:nvPr/>
        </p:nvSpPr>
        <p:spPr>
          <a:xfrm>
            <a:off x="5040080" y="4312477"/>
            <a:ext cx="37327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MA50, MA200 for trend analysis</a:t>
            </a:r>
            <a:endParaRPr lang="en-US" sz="1700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F4694FD3-9D23-ECA8-E475-F605629A494D}"/>
              </a:ext>
            </a:extLst>
          </p:cNvPr>
          <p:cNvSpPr/>
          <p:nvPr/>
        </p:nvSpPr>
        <p:spPr>
          <a:xfrm>
            <a:off x="9236438" y="3284730"/>
            <a:ext cx="4226838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E65DB233-C121-FA3A-4CCC-FABE863791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6438" y="3254250"/>
            <a:ext cx="4226838" cy="121920"/>
          </a:xfrm>
          <a:prstGeom prst="rect">
            <a:avLst/>
          </a:prstGeom>
        </p:spPr>
      </p:pic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E6505706-A7F4-830A-5366-66498E9343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4816" y="2959808"/>
            <a:ext cx="649962" cy="649962"/>
          </a:xfrm>
          <a:prstGeom prst="rect">
            <a:avLst/>
          </a:prstGeom>
        </p:spPr>
      </p:pic>
      <p:sp>
        <p:nvSpPr>
          <p:cNvPr id="30" name="Text 6">
            <a:extLst>
              <a:ext uri="{FF2B5EF4-FFF2-40B4-BE49-F238E27FC236}">
                <a16:creationId xmlns:a16="http://schemas.microsoft.com/office/drawing/2014/main" id="{6909EE2C-4F1F-881F-F1B7-EACF64FD9E5D}"/>
              </a:ext>
            </a:extLst>
          </p:cNvPr>
          <p:cNvSpPr/>
          <p:nvPr/>
        </p:nvSpPr>
        <p:spPr>
          <a:xfrm>
            <a:off x="11219840" y="3122329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0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9BB67A15-7BFC-5248-B3E7-AE4E7B888B25}"/>
              </a:ext>
            </a:extLst>
          </p:cNvPr>
          <p:cNvSpPr/>
          <p:nvPr/>
        </p:nvSpPr>
        <p:spPr>
          <a:xfrm>
            <a:off x="9483492" y="382634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Exponential MA</a:t>
            </a:r>
            <a:endParaRPr lang="en-US" sz="22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50B81D0B-AD0E-F521-589B-48085B726E1B}"/>
              </a:ext>
            </a:extLst>
          </p:cNvPr>
          <p:cNvSpPr/>
          <p:nvPr/>
        </p:nvSpPr>
        <p:spPr>
          <a:xfrm>
            <a:off x="9483492" y="4312477"/>
            <a:ext cx="37327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EMA20 for faster signals</a:t>
            </a:r>
            <a:endParaRPr lang="en-US" sz="17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81E7E53C-2A5F-AE7E-C68F-CF58FA581A4D}"/>
              </a:ext>
            </a:extLst>
          </p:cNvPr>
          <p:cNvSpPr/>
          <p:nvPr/>
        </p:nvSpPr>
        <p:spPr>
          <a:xfrm>
            <a:off x="13679850" y="3284730"/>
            <a:ext cx="4226957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>
            <a:extLst>
              <a:ext uri="{FF2B5EF4-FFF2-40B4-BE49-F238E27FC236}">
                <a16:creationId xmlns:a16="http://schemas.microsoft.com/office/drawing/2014/main" id="{5F0E9404-5997-7CCF-8B1A-0FB333756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9850" y="3254250"/>
            <a:ext cx="4226957" cy="121920"/>
          </a:xfrm>
          <a:prstGeom prst="rect">
            <a:avLst/>
          </a:prstGeom>
        </p:spPr>
      </p:pic>
      <p:pic>
        <p:nvPicPr>
          <p:cNvPr id="35" name="Image 5" descr="preencoded.png">
            <a:extLst>
              <a:ext uri="{FF2B5EF4-FFF2-40B4-BE49-F238E27FC236}">
                <a16:creationId xmlns:a16="http://schemas.microsoft.com/office/drawing/2014/main" id="{CE520093-F551-8F73-5768-1321C53D7F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68347" y="2959808"/>
            <a:ext cx="649962" cy="649962"/>
          </a:xfrm>
          <a:prstGeom prst="rect">
            <a:avLst/>
          </a:prstGeom>
        </p:spPr>
      </p:pic>
      <p:sp>
        <p:nvSpPr>
          <p:cNvPr id="36" name="Text 10">
            <a:extLst>
              <a:ext uri="{FF2B5EF4-FFF2-40B4-BE49-F238E27FC236}">
                <a16:creationId xmlns:a16="http://schemas.microsoft.com/office/drawing/2014/main" id="{8539914A-219D-3700-69E2-7C45626E4D5C}"/>
              </a:ext>
            </a:extLst>
          </p:cNvPr>
          <p:cNvSpPr/>
          <p:nvPr/>
        </p:nvSpPr>
        <p:spPr>
          <a:xfrm>
            <a:off x="15663372" y="3122329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0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6479FB04-DA0F-1667-E903-28DE16007F12}"/>
              </a:ext>
            </a:extLst>
          </p:cNvPr>
          <p:cNvSpPr/>
          <p:nvPr/>
        </p:nvSpPr>
        <p:spPr>
          <a:xfrm>
            <a:off x="13926905" y="3826345"/>
            <a:ext cx="294620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Relative Strength Index</a:t>
            </a:r>
            <a:endParaRPr lang="en-US" sz="220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849C6A0A-2C4B-5A0A-1484-2A0342C5F397}"/>
              </a:ext>
            </a:extLst>
          </p:cNvPr>
          <p:cNvSpPr/>
          <p:nvPr/>
        </p:nvSpPr>
        <p:spPr>
          <a:xfrm>
            <a:off x="13926905" y="4312477"/>
            <a:ext cx="37328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RSI for momentum measurement</a:t>
            </a:r>
            <a:endParaRPr lang="en-US" sz="1700" dirty="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29727014-EB4B-89C6-685E-44917DDFFB66}"/>
              </a:ext>
            </a:extLst>
          </p:cNvPr>
          <p:cNvSpPr/>
          <p:nvPr/>
        </p:nvSpPr>
        <p:spPr>
          <a:xfrm>
            <a:off x="4793025" y="5447738"/>
            <a:ext cx="6448544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6" descr="preencoded.png">
            <a:extLst>
              <a:ext uri="{FF2B5EF4-FFF2-40B4-BE49-F238E27FC236}">
                <a16:creationId xmlns:a16="http://schemas.microsoft.com/office/drawing/2014/main" id="{DEE26D5F-3E86-D08D-D43A-6F37C380CD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3025" y="5417258"/>
            <a:ext cx="6448544" cy="121920"/>
          </a:xfrm>
          <a:prstGeom prst="rect">
            <a:avLst/>
          </a:prstGeom>
        </p:spPr>
      </p:pic>
      <p:pic>
        <p:nvPicPr>
          <p:cNvPr id="41" name="Image 7" descr="preencoded.png">
            <a:extLst>
              <a:ext uri="{FF2B5EF4-FFF2-40B4-BE49-F238E27FC236}">
                <a16:creationId xmlns:a16="http://schemas.microsoft.com/office/drawing/2014/main" id="{20D688E1-FAFD-B406-2FF5-E87F07EAA3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2256" y="5122817"/>
            <a:ext cx="649962" cy="649962"/>
          </a:xfrm>
          <a:prstGeom prst="rect">
            <a:avLst/>
          </a:prstGeom>
        </p:spPr>
      </p:pic>
      <p:sp>
        <p:nvSpPr>
          <p:cNvPr id="42" name="Text 14">
            <a:extLst>
              <a:ext uri="{FF2B5EF4-FFF2-40B4-BE49-F238E27FC236}">
                <a16:creationId xmlns:a16="http://schemas.microsoft.com/office/drawing/2014/main" id="{4ADCD010-27C8-91FA-87B0-5BB30C41A640}"/>
              </a:ext>
            </a:extLst>
          </p:cNvPr>
          <p:cNvSpPr/>
          <p:nvPr/>
        </p:nvSpPr>
        <p:spPr>
          <a:xfrm>
            <a:off x="7887281" y="5285337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0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A40DF74F-9F0C-3B91-6B86-AF24279CB720}"/>
              </a:ext>
            </a:extLst>
          </p:cNvPr>
          <p:cNvSpPr/>
          <p:nvPr/>
        </p:nvSpPr>
        <p:spPr>
          <a:xfrm>
            <a:off x="5040080" y="598935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Bollinger Bands</a:t>
            </a:r>
            <a:endParaRPr lang="en-US" sz="2200" dirty="0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1D13928C-E3AF-A1E2-B5C7-40B1D19D0991}"/>
              </a:ext>
            </a:extLst>
          </p:cNvPr>
          <p:cNvSpPr/>
          <p:nvPr/>
        </p:nvSpPr>
        <p:spPr>
          <a:xfrm>
            <a:off x="5040080" y="6475486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Volatility indicators</a:t>
            </a:r>
            <a:endParaRPr lang="en-US" sz="1700" dirty="0"/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D42E7B23-3CF2-247A-FDEF-274E996BB13D}"/>
              </a:ext>
            </a:extLst>
          </p:cNvPr>
          <p:cNvSpPr/>
          <p:nvPr/>
        </p:nvSpPr>
        <p:spPr>
          <a:xfrm>
            <a:off x="11458144" y="5447738"/>
            <a:ext cx="6448663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8" descr="preencoded.png">
            <a:extLst>
              <a:ext uri="{FF2B5EF4-FFF2-40B4-BE49-F238E27FC236}">
                <a16:creationId xmlns:a16="http://schemas.microsoft.com/office/drawing/2014/main" id="{B1D388EC-03C4-D2A4-430A-7876DC2A83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58144" y="5417258"/>
            <a:ext cx="6448663" cy="121920"/>
          </a:xfrm>
          <a:prstGeom prst="rect">
            <a:avLst/>
          </a:prstGeom>
        </p:spPr>
      </p:pic>
      <p:pic>
        <p:nvPicPr>
          <p:cNvPr id="47" name="Image 9" descr="preencoded.png">
            <a:extLst>
              <a:ext uri="{FF2B5EF4-FFF2-40B4-BE49-F238E27FC236}">
                <a16:creationId xmlns:a16="http://schemas.microsoft.com/office/drawing/2014/main" id="{7ABC2195-9A45-A991-16CC-238109DF88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494" y="5122817"/>
            <a:ext cx="649962" cy="649962"/>
          </a:xfrm>
          <a:prstGeom prst="rect">
            <a:avLst/>
          </a:prstGeom>
        </p:spPr>
      </p:pic>
      <p:sp>
        <p:nvSpPr>
          <p:cNvPr id="48" name="Text 18">
            <a:extLst>
              <a:ext uri="{FF2B5EF4-FFF2-40B4-BE49-F238E27FC236}">
                <a16:creationId xmlns:a16="http://schemas.microsoft.com/office/drawing/2014/main" id="{10C6C8DE-2101-8073-5E5A-8CAA66946410}"/>
              </a:ext>
            </a:extLst>
          </p:cNvPr>
          <p:cNvSpPr/>
          <p:nvPr/>
        </p:nvSpPr>
        <p:spPr>
          <a:xfrm>
            <a:off x="14552519" y="5285337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2000" dirty="0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CA0E2ECC-4ADE-8CC0-86EB-728C66B1E604}"/>
              </a:ext>
            </a:extLst>
          </p:cNvPr>
          <p:cNvSpPr/>
          <p:nvPr/>
        </p:nvSpPr>
        <p:spPr>
          <a:xfrm>
            <a:off x="11705199" y="598935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MACD Indicator</a:t>
            </a:r>
            <a:endParaRPr lang="en-US" sz="2200" dirty="0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00590758-7033-42F7-AA68-C8537C76D6E3}"/>
              </a:ext>
            </a:extLst>
          </p:cNvPr>
          <p:cNvSpPr/>
          <p:nvPr/>
        </p:nvSpPr>
        <p:spPr>
          <a:xfrm>
            <a:off x="11705199" y="6475486"/>
            <a:ext cx="59545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confirmation tool</a:t>
            </a:r>
            <a:endParaRPr lang="en-US" sz="1700" dirty="0"/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FA5092D8-A2E4-0B3A-1AAE-C378F5F1E4B0}"/>
              </a:ext>
            </a:extLst>
          </p:cNvPr>
          <p:cNvSpPr/>
          <p:nvPr/>
        </p:nvSpPr>
        <p:spPr>
          <a:xfrm>
            <a:off x="4793025" y="7312971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indicators help in trend analysis and decision making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911277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7076F37B-FE0A-8ECF-11EC-F84123700338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8AE58E46-CD88-BF29-A135-BFBB5E53EDA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DC90935-C0ED-32D7-C1B3-00422F9D5C65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9D12453D-E4DA-1BDC-970D-A1FB06BDBBA2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9F5CC4AB-B996-F840-FE76-C52A6A19387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1C450562-7C89-9FFA-43DA-17A32291DF48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9" name="Freeform 10">
                <a:extLst>
                  <a:ext uri="{FF2B5EF4-FFF2-40B4-BE49-F238E27FC236}">
                    <a16:creationId xmlns:a16="http://schemas.microsoft.com/office/drawing/2014/main" id="{F4335770-5D78-58BA-A7E6-91964A09F413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1">
                <a:extLst>
                  <a:ext uri="{FF2B5EF4-FFF2-40B4-BE49-F238E27FC236}">
                    <a16:creationId xmlns:a16="http://schemas.microsoft.com/office/drawing/2014/main" id="{CE556387-12F7-7E0C-C16A-BFEA4AAD638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12">
              <a:extLst>
                <a:ext uri="{FF2B5EF4-FFF2-40B4-BE49-F238E27FC236}">
                  <a16:creationId xmlns:a16="http://schemas.microsoft.com/office/drawing/2014/main" id="{27548AB4-7487-1D34-F058-826C5AEC326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7" name="Freeform 13">
                <a:extLst>
                  <a:ext uri="{FF2B5EF4-FFF2-40B4-BE49-F238E27FC236}">
                    <a16:creationId xmlns:a16="http://schemas.microsoft.com/office/drawing/2014/main" id="{20E0C139-AEE0-D802-9798-048D4C2663E4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14">
                <a:extLst>
                  <a:ext uri="{FF2B5EF4-FFF2-40B4-BE49-F238E27FC236}">
                    <a16:creationId xmlns:a16="http://schemas.microsoft.com/office/drawing/2014/main" id="{452F53D8-2C22-989E-08F1-5368D40BA2D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Freeform 15">
            <a:extLst>
              <a:ext uri="{FF2B5EF4-FFF2-40B4-BE49-F238E27FC236}">
                <a16:creationId xmlns:a16="http://schemas.microsoft.com/office/drawing/2014/main" id="{4D6D657A-1D54-E607-DDD8-BA737D334FF4}"/>
              </a:ext>
            </a:extLst>
          </p:cNvPr>
          <p:cNvSpPr/>
          <p:nvPr/>
        </p:nvSpPr>
        <p:spPr>
          <a:xfrm>
            <a:off x="10736738" y="7628955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50698566-E3F8-B549-3864-80D61DF999C4}"/>
              </a:ext>
            </a:extLst>
          </p:cNvPr>
          <p:cNvSpPr/>
          <p:nvPr/>
        </p:nvSpPr>
        <p:spPr>
          <a:xfrm>
            <a:off x="10736738" y="7895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0FA637-BE87-0CDD-9063-94234A7DB5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8D69DB-18C4-E71B-143F-D122ED75125D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6" name="Text 0">
            <a:extLst>
              <a:ext uri="{FF2B5EF4-FFF2-40B4-BE49-F238E27FC236}">
                <a16:creationId xmlns:a16="http://schemas.microsoft.com/office/drawing/2014/main" id="{7E3E6E2A-F1E6-5D4A-C487-2219DED3FDCA}"/>
              </a:ext>
            </a:extLst>
          </p:cNvPr>
          <p:cNvSpPr/>
          <p:nvPr/>
        </p:nvSpPr>
        <p:spPr>
          <a:xfrm>
            <a:off x="4540673" y="1649922"/>
            <a:ext cx="69880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Deep Learning Model: LSTM</a:t>
            </a:r>
            <a:endParaRPr lang="en-US" sz="445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1356295D-C2E2-9A1B-B959-BE2FA3683E68}"/>
              </a:ext>
            </a:extLst>
          </p:cNvPr>
          <p:cNvSpPr/>
          <p:nvPr/>
        </p:nvSpPr>
        <p:spPr>
          <a:xfrm>
            <a:off x="4540673" y="332060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is LSTM?</a:t>
            </a:r>
            <a:endParaRPr lang="en-US" sz="22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A3D9E229-F961-14E2-6F60-FF97456DEFAE}"/>
              </a:ext>
            </a:extLst>
          </p:cNvPr>
          <p:cNvSpPr/>
          <p:nvPr/>
        </p:nvSpPr>
        <p:spPr>
          <a:xfrm>
            <a:off x="4540673" y="3893417"/>
            <a:ext cx="424612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 Short-Term Memory networks handle time-series data and learn patterns from past stock prices</a:t>
            </a:r>
            <a:endParaRPr lang="en-US" sz="1700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4852ACFC-1547-3129-3E2F-C4C99585646C}"/>
              </a:ext>
            </a:extLst>
          </p:cNvPr>
          <p:cNvSpPr/>
          <p:nvPr/>
        </p:nvSpPr>
        <p:spPr>
          <a:xfrm>
            <a:off x="4540673" y="515012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 Architecture</a:t>
            </a:r>
            <a:endParaRPr lang="en-US" sz="2200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8FF621C3-0454-1456-2B2E-994991240E7D}"/>
              </a:ext>
            </a:extLst>
          </p:cNvPr>
          <p:cNvSpPr/>
          <p:nvPr/>
        </p:nvSpPr>
        <p:spPr>
          <a:xfrm>
            <a:off x="4540673" y="5722931"/>
            <a:ext cx="4246126" cy="161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LSTM Layers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Dense Output Layer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Adam Optimizer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MSE Loss Function</a:t>
            </a:r>
            <a:endParaRPr lang="en-US" sz="1700" dirty="0"/>
          </a:p>
        </p:txBody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8458A98D-976A-1C88-7F95-15FAB93D2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3057" y="2931273"/>
            <a:ext cx="8338899" cy="465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04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D5FBA861-B42E-3499-E082-63C02D701202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98D378B2-AE69-1FE2-7657-21E7E2CE7BB7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5E855A58-7935-EF33-257B-C39E7F4C0B7A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E6E4A10A-D431-8977-9D7E-C9D06E4D688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8C37042F-2721-C97A-2217-B6EC1A6EC0B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09245CED-E814-10FC-2D25-52010B46697D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9" name="Freeform 10">
                <a:extLst>
                  <a:ext uri="{FF2B5EF4-FFF2-40B4-BE49-F238E27FC236}">
                    <a16:creationId xmlns:a16="http://schemas.microsoft.com/office/drawing/2014/main" id="{66CC4A25-330F-55CB-AC42-562C672FD957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1">
                <a:extLst>
                  <a:ext uri="{FF2B5EF4-FFF2-40B4-BE49-F238E27FC236}">
                    <a16:creationId xmlns:a16="http://schemas.microsoft.com/office/drawing/2014/main" id="{9A7A43BC-B6CD-7ADF-AC8E-5395DA9FFEC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12">
              <a:extLst>
                <a:ext uri="{FF2B5EF4-FFF2-40B4-BE49-F238E27FC236}">
                  <a16:creationId xmlns:a16="http://schemas.microsoft.com/office/drawing/2014/main" id="{61ABCB0A-EB32-A9EB-B7F8-CFA4C1E70D2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7" name="Freeform 13">
                <a:extLst>
                  <a:ext uri="{FF2B5EF4-FFF2-40B4-BE49-F238E27FC236}">
                    <a16:creationId xmlns:a16="http://schemas.microsoft.com/office/drawing/2014/main" id="{E39A7D51-E2EB-27FB-2B4F-1B2A8E673FE3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14">
                <a:extLst>
                  <a:ext uri="{FF2B5EF4-FFF2-40B4-BE49-F238E27FC236}">
                    <a16:creationId xmlns:a16="http://schemas.microsoft.com/office/drawing/2014/main" id="{6B4A840C-C5ED-A63B-5C2F-9B194EB149C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Freeform 15">
            <a:extLst>
              <a:ext uri="{FF2B5EF4-FFF2-40B4-BE49-F238E27FC236}">
                <a16:creationId xmlns:a16="http://schemas.microsoft.com/office/drawing/2014/main" id="{4E6EF4CC-69E5-2C38-2224-0A2BDC31B611}"/>
              </a:ext>
            </a:extLst>
          </p:cNvPr>
          <p:cNvSpPr/>
          <p:nvPr/>
        </p:nvSpPr>
        <p:spPr>
          <a:xfrm>
            <a:off x="10736738" y="7628955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83692219-DF96-CE54-C65D-C3780BC792D0}"/>
              </a:ext>
            </a:extLst>
          </p:cNvPr>
          <p:cNvSpPr/>
          <p:nvPr/>
        </p:nvSpPr>
        <p:spPr>
          <a:xfrm>
            <a:off x="10736738" y="7895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FF426D-8577-51DE-CE28-ABE9C296DF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BBFE10-4388-F432-FF37-B5ACDE890DD5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5BCE87E8-4899-54D6-CAB0-1AC58B57B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0027" y="942404"/>
            <a:ext cx="5760720" cy="8229600"/>
          </a:xfrm>
          <a:prstGeom prst="rect">
            <a:avLst/>
          </a:prstGeom>
        </p:spPr>
      </p:pic>
      <p:sp>
        <p:nvSpPr>
          <p:cNvPr id="24" name="Text 0">
            <a:extLst>
              <a:ext uri="{FF2B5EF4-FFF2-40B4-BE49-F238E27FC236}">
                <a16:creationId xmlns:a16="http://schemas.microsoft.com/office/drawing/2014/main" id="{DBA360CA-B445-2E76-BE73-975218CDB3CD}"/>
              </a:ext>
            </a:extLst>
          </p:cNvPr>
          <p:cNvSpPr/>
          <p:nvPr/>
        </p:nvSpPr>
        <p:spPr>
          <a:xfrm>
            <a:off x="4348656" y="268024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Decision Logic</a:t>
            </a:r>
            <a:endParaRPr lang="en-US" sz="4450" dirty="0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9B094B34-973F-B6DF-0E78-D6B8BC73F159}"/>
              </a:ext>
            </a:extLst>
          </p:cNvPr>
          <p:cNvSpPr/>
          <p:nvPr/>
        </p:nvSpPr>
        <p:spPr>
          <a:xfrm>
            <a:off x="4348656" y="3717870"/>
            <a:ext cx="3705344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BE5952B5-C4E8-26C8-8419-3927A5F25815}"/>
              </a:ext>
            </a:extLst>
          </p:cNvPr>
          <p:cNvSpPr/>
          <p:nvPr/>
        </p:nvSpPr>
        <p:spPr>
          <a:xfrm>
            <a:off x="4572851" y="394206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BUY Signal</a:t>
            </a:r>
            <a:endParaRPr lang="en-US" sz="22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1C1B5FF8-2B2A-4FF1-CF36-9788E4D93B31}"/>
              </a:ext>
            </a:extLst>
          </p:cNvPr>
          <p:cNvSpPr/>
          <p:nvPr/>
        </p:nvSpPr>
        <p:spPr>
          <a:xfrm>
            <a:off x="4572851" y="4428197"/>
            <a:ext cx="32569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 &gt; MA50 AND RSI &lt; 70</a:t>
            </a:r>
            <a:endParaRPr lang="en-US" sz="17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5643A065-1B26-1D9B-61BB-A95308705C9C}"/>
              </a:ext>
            </a:extLst>
          </p:cNvPr>
          <p:cNvSpPr/>
          <p:nvPr/>
        </p:nvSpPr>
        <p:spPr>
          <a:xfrm>
            <a:off x="8270575" y="3717870"/>
            <a:ext cx="3705463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E56DB7F6-363D-8E1F-32DC-016F747BF103}"/>
              </a:ext>
            </a:extLst>
          </p:cNvPr>
          <p:cNvSpPr/>
          <p:nvPr/>
        </p:nvSpPr>
        <p:spPr>
          <a:xfrm>
            <a:off x="8494770" y="394206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SELL Signal</a:t>
            </a:r>
            <a:endParaRPr lang="en-US" sz="22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E408EBA7-C602-DFCF-B9D0-2DCAD59A3544}"/>
              </a:ext>
            </a:extLst>
          </p:cNvPr>
          <p:cNvSpPr/>
          <p:nvPr/>
        </p:nvSpPr>
        <p:spPr>
          <a:xfrm>
            <a:off x="8494770" y="4428197"/>
            <a:ext cx="32570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 &lt; MA50 AND RSI &gt; 30</a:t>
            </a:r>
            <a:endParaRPr lang="en-US" sz="1700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A1DF02BA-3817-DF3C-A189-0AFEA53FEAFA}"/>
              </a:ext>
            </a:extLst>
          </p:cNvPr>
          <p:cNvSpPr/>
          <p:nvPr/>
        </p:nvSpPr>
        <p:spPr>
          <a:xfrm>
            <a:off x="4348656" y="5215676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186E8564-DEB4-557B-18C9-97D241C316BF}"/>
              </a:ext>
            </a:extLst>
          </p:cNvPr>
          <p:cNvSpPr/>
          <p:nvPr/>
        </p:nvSpPr>
        <p:spPr>
          <a:xfrm>
            <a:off x="4572851" y="543987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HOLD Signal</a:t>
            </a:r>
            <a:endParaRPr lang="en-US" sz="22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B7C7028C-6AFD-C325-61F4-77042968848E}"/>
              </a:ext>
            </a:extLst>
          </p:cNvPr>
          <p:cNvSpPr/>
          <p:nvPr/>
        </p:nvSpPr>
        <p:spPr>
          <a:xfrm>
            <a:off x="4572851" y="5926003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Otherwise condition</a:t>
            </a:r>
            <a:endParaRPr lang="en-US" sz="17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40630EC0-FD07-11B4-7C5F-5A538DAA90B5}"/>
              </a:ext>
            </a:extLst>
          </p:cNvPr>
          <p:cNvSpPr/>
          <p:nvPr/>
        </p:nvSpPr>
        <p:spPr>
          <a:xfrm>
            <a:off x="4348656" y="6740629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combines technical indicators with AI predictions to generate trading signals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073836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4BAD9-FADF-86DB-2FB2-A3A9BAD1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DC5CE213-426A-82DF-D311-88A7DBF20316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0CD9478-3A22-480C-A6BF-23DC112CEA13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C721935-FA0D-DA82-90EE-A6CD9F29B45E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3A28BD87-00A2-2E11-2F95-A879D6A658A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FFCC9BA3-DEB1-3F1A-621A-F194E57EC7D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0CA31EB-4421-E038-D0F8-EC799BBBDA92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8C399B0-20AE-B43D-BB9A-94B65345D506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6A8D4CB-784C-0E68-E845-337F9139281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DBDC6BC-885E-07C7-9452-7B4A1A94E5A2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7E30C65-E8E6-DC7B-B9C7-B61B07CC5570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2FA3DC5-3703-BD50-8E0E-445323D39F3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179520DB-E913-EE6C-2755-A5B614D281D5}"/>
              </a:ext>
            </a:extLst>
          </p:cNvPr>
          <p:cNvSpPr/>
          <p:nvPr/>
        </p:nvSpPr>
        <p:spPr>
          <a:xfrm>
            <a:off x="10820400" y="760560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DEC004F-4544-4F7C-00A5-0FC981E42B4B}"/>
              </a:ext>
            </a:extLst>
          </p:cNvPr>
          <p:cNvSpPr/>
          <p:nvPr/>
        </p:nvSpPr>
        <p:spPr>
          <a:xfrm>
            <a:off x="10429761" y="19371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53DB9A-B938-70F2-E5C3-134C0F17C3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930616-BE18-458F-6FE9-B8A8B7BB1232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Content Placeholder 2"/>
          <p:cNvSpPr txBox="1">
            <a:spLocks/>
          </p:cNvSpPr>
          <p:nvPr/>
        </p:nvSpPr>
        <p:spPr>
          <a:xfrm>
            <a:off x="4200638" y="4000500"/>
            <a:ext cx="12487161" cy="343708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itchFamily="34" charset="0"/>
              <a:buNone/>
            </a:pPr>
            <a:r>
              <a:rPr lang="en-GB" sz="13200">
                <a:solidFill>
                  <a:schemeClr val="accent1">
                    <a:lumMod val="75000"/>
                  </a:schemeClr>
                </a:solidFill>
              </a:rPr>
              <a:t>Thank You</a:t>
            </a:r>
            <a:endParaRPr lang="en-GB" sz="1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530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465</Words>
  <Application>Microsoft Office PowerPoint</Application>
  <PresentationFormat>Custom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Alatsi</vt:lpstr>
      <vt:lpstr>Barlow Light</vt:lpstr>
      <vt:lpstr>Aharoni</vt:lpstr>
      <vt:lpstr>Montserrat</vt:lpstr>
      <vt:lpstr>Barlow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synosis</dc:title>
  <dc:creator>avita</dc:creator>
  <cp:lastModifiedBy>sonu kumar</cp:lastModifiedBy>
  <cp:revision>18</cp:revision>
  <dcterms:created xsi:type="dcterms:W3CDTF">2006-08-16T00:00:00Z</dcterms:created>
  <dcterms:modified xsi:type="dcterms:W3CDTF">2026-04-04T06:53:43Z</dcterms:modified>
  <dc:identifier>DAGTVFROlGs</dc:identifier>
</cp:coreProperties>
</file>